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423"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123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F3D5F"/>
          </a:solidFill>
          <a:ln/>
        </p:spPr>
        <p:txBody>
          <a:bodyPr/>
          <a:lstStyle/>
          <a:p>
            <a:endParaRPr lang="en-US"/>
          </a:p>
        </p:txBody>
      </p:sp>
      <p:sp>
        <p:nvSpPr>
          <p:cNvPr id="3" name="Shape 1"/>
          <p:cNvSpPr/>
          <p:nvPr/>
        </p:nvSpPr>
        <p:spPr>
          <a:xfrm>
            <a:off x="-2377440" y="4206240"/>
            <a:ext cx="4754880" cy="4754880"/>
          </a:xfrm>
          <a:prstGeom prst="ellipse">
            <a:avLst/>
          </a:prstGeom>
          <a:solidFill>
            <a:srgbClr val="0F3D5F"/>
          </a:solidFill>
          <a:ln/>
        </p:spPr>
        <p:txBody>
          <a:bodyPr/>
          <a:lstStyle/>
          <a:p>
            <a:endParaRPr lang="en-US"/>
          </a:p>
        </p:txBody>
      </p:sp>
      <p:sp>
        <p:nvSpPr>
          <p:cNvPr id="4" name="Shape 2"/>
          <p:cNvSpPr/>
          <p:nvPr/>
        </p:nvSpPr>
        <p:spPr>
          <a:xfrm>
            <a:off x="822960" y="685800"/>
            <a:ext cx="777240" cy="77724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25042" y="887882"/>
            <a:ext cx="373075" cy="373075"/>
          </a:xfrm>
          <a:prstGeom prst="rect">
            <a:avLst/>
          </a:prstGeom>
        </p:spPr>
      </p:pic>
      <p:sp>
        <p:nvSpPr>
          <p:cNvPr id="6" name="Text 3"/>
          <p:cNvSpPr/>
          <p:nvPr/>
        </p:nvSpPr>
        <p:spPr>
          <a:xfrm>
            <a:off x="822960" y="2331720"/>
            <a:ext cx="91440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ĐỒ ÁN MÔN LẬP TRÌNH MẠNG  •  NHÓM 12</a:t>
            </a:r>
            <a:endParaRPr lang="en-US" sz="1400" dirty="0"/>
          </a:p>
        </p:txBody>
      </p:sp>
      <p:sp>
        <p:nvSpPr>
          <p:cNvPr id="7" name="Text 4"/>
          <p:cNvSpPr/>
          <p:nvPr/>
        </p:nvSpPr>
        <p:spPr>
          <a:xfrm>
            <a:off x="777240" y="2743200"/>
            <a:ext cx="10241280" cy="155448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Arial" pitchFamily="34" charset="0"/>
                <a:ea typeface="Arial" pitchFamily="34" charset="-122"/>
                <a:cs typeface="Arial" pitchFamily="34" charset="-120"/>
              </a:rPr>
              <a:t>Lập trình ứng dụng Chat (GUI) via TCP</a:t>
            </a:r>
            <a:endParaRPr lang="en-US" sz="4400" dirty="0"/>
          </a:p>
        </p:txBody>
      </p:sp>
      <p:sp>
        <p:nvSpPr>
          <p:cNvPr id="8" name="Text 5"/>
          <p:cNvSpPr/>
          <p:nvPr/>
        </p:nvSpPr>
        <p:spPr>
          <a:xfrm>
            <a:off x="822960" y="4160520"/>
            <a:ext cx="8778240" cy="640080"/>
          </a:xfrm>
          <a:prstGeom prst="rect">
            <a:avLst/>
          </a:prstGeom>
          <a:noFill/>
          <a:ln/>
        </p:spPr>
        <p:txBody>
          <a:bodyPr wrap="square" lIns="0" tIns="0" rIns="0" bIns="0" rtlCol="0" anchor="ctr"/>
          <a:lstStyle/>
          <a:p>
            <a:pPr marL="0" indent="0">
              <a:buNone/>
            </a:pPr>
            <a:r>
              <a:rPr lang="en-US" sz="1500" i="1" dirty="0">
                <a:solidFill>
                  <a:srgbClr val="B9CFDC"/>
                </a:solidFill>
                <a:latin typeface="Calibri" pitchFamily="34" charset="0"/>
                <a:ea typeface="Calibri" pitchFamily="34" charset="-122"/>
                <a:cs typeface="Calibri" pitchFamily="34" charset="-120"/>
              </a:rPr>
              <a:t>Kiến trúc Client – Server đa luồng, giao thức đóng gói tin nhắn và giao diện PySide6 trên nền TCP Socket.</a:t>
            </a:r>
            <a:endParaRPr lang="en-US" sz="1500" dirty="0"/>
          </a:p>
        </p:txBody>
      </p:sp>
      <p:sp>
        <p:nvSpPr>
          <p:cNvPr id="9" name="Text 6"/>
          <p:cNvSpPr/>
          <p:nvPr/>
        </p:nvSpPr>
        <p:spPr>
          <a:xfrm>
            <a:off x="822960" y="5074920"/>
            <a:ext cx="9875520" cy="365760"/>
          </a:xfrm>
          <a:prstGeom prst="rect">
            <a:avLst/>
          </a:prstGeom>
          <a:noFill/>
          <a:ln/>
        </p:spPr>
        <p:txBody>
          <a:bodyPr wrap="square" lIns="0" tIns="0" rIns="0" bIns="0" rtlCol="0" anchor="ctr"/>
          <a:lstStyle/>
          <a:p>
            <a:pPr marL="0" indent="0">
              <a:buNone/>
            </a:pPr>
            <a:r>
              <a:rPr lang="en-US" sz="1300" b="1" dirty="0">
                <a:solidFill>
                  <a:srgbClr val="3FE0C5"/>
                </a:solidFill>
                <a:latin typeface="Calibri" pitchFamily="34" charset="0"/>
                <a:ea typeface="Calibri" pitchFamily="34" charset="-122"/>
                <a:cs typeface="Calibri" pitchFamily="34" charset="-120"/>
              </a:rPr>
              <a:t>GVHD: </a:t>
            </a:r>
            <a:r>
              <a:rPr lang="en-US" sz="1300" dirty="0">
                <a:solidFill>
                  <a:srgbClr val="E7EFF3"/>
                </a:solidFill>
                <a:latin typeface="Calibri" pitchFamily="34" charset="0"/>
                <a:ea typeface="Calibri" pitchFamily="34" charset="-122"/>
                <a:cs typeface="Calibri" pitchFamily="34" charset="-120"/>
              </a:rPr>
              <a:t>Mai Ngọc Châu    </a:t>
            </a:r>
            <a:r>
              <a:rPr lang="en-US" sz="1300" b="1" dirty="0">
                <a:solidFill>
                  <a:srgbClr val="3FE0C5"/>
                </a:solidFill>
                <a:latin typeface="Calibri" pitchFamily="34" charset="0"/>
                <a:ea typeface="Calibri" pitchFamily="34" charset="-122"/>
                <a:cs typeface="Calibri" pitchFamily="34" charset="-120"/>
              </a:rPr>
              <a:t>Trường: </a:t>
            </a:r>
            <a:r>
              <a:rPr lang="en-US" sz="1300" dirty="0">
                <a:solidFill>
                  <a:srgbClr val="E7EFF3"/>
                </a:solidFill>
                <a:latin typeface="Calibri" pitchFamily="34" charset="0"/>
                <a:ea typeface="Calibri" pitchFamily="34" charset="-122"/>
                <a:cs typeface="Calibri" pitchFamily="34" charset="-120"/>
              </a:rPr>
              <a:t>Đại học GTVT TP.HCM</a:t>
            </a:r>
            <a:endParaRPr lang="en-US" sz="1300" dirty="0"/>
          </a:p>
        </p:txBody>
      </p:sp>
      <p:sp>
        <p:nvSpPr>
          <p:cNvPr id="10" name="Text 7"/>
          <p:cNvSpPr/>
          <p:nvPr/>
        </p:nvSpPr>
        <p:spPr>
          <a:xfrm>
            <a:off x="822960" y="5486400"/>
            <a:ext cx="9875520" cy="365760"/>
          </a:xfrm>
          <a:prstGeom prst="rect">
            <a:avLst/>
          </a:prstGeom>
          <a:noFill/>
          <a:ln/>
        </p:spPr>
        <p:txBody>
          <a:bodyPr wrap="square" lIns="0" tIns="0" rIns="0" bIns="0" rtlCol="0" anchor="ctr"/>
          <a:lstStyle/>
          <a:p>
            <a:pPr marL="0" indent="0">
              <a:buNone/>
            </a:pPr>
            <a:r>
              <a:rPr lang="en-US" sz="1300" dirty="0">
                <a:solidFill>
                  <a:srgbClr val="8FAAB9"/>
                </a:solidFill>
                <a:latin typeface="Calibri" pitchFamily="34" charset="0"/>
                <a:ea typeface="Calibri" pitchFamily="34" charset="-122"/>
                <a:cs typeface="Calibri" pitchFamily="34" charset="-120"/>
              </a:rPr>
              <a:t>Đỗ Nguyễn Quỳnh Anh   ·   Trần Minh Quân   ·   Lê Hữu Tiến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NỘI DUNG TRÌNH BÀY</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6 chương báo cáo đồ án</a:t>
            </a:r>
            <a:endParaRPr lang="en-US" sz="3000" dirty="0"/>
          </a:p>
        </p:txBody>
      </p:sp>
      <p:sp>
        <p:nvSpPr>
          <p:cNvPr id="4" name="Shape 2"/>
          <p:cNvSpPr/>
          <p:nvPr/>
        </p:nvSpPr>
        <p:spPr>
          <a:xfrm>
            <a:off x="640080" y="182880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Shape 3"/>
          <p:cNvSpPr/>
          <p:nvPr/>
        </p:nvSpPr>
        <p:spPr>
          <a:xfrm>
            <a:off x="896112" y="2139696"/>
            <a:ext cx="777240" cy="777240"/>
          </a:xfrm>
          <a:prstGeom prst="ellipse">
            <a:avLst/>
          </a:prstGeom>
          <a:solidFill>
            <a:srgbClr val="D8F3E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8194" y="2341778"/>
            <a:ext cx="373075" cy="373075"/>
          </a:xfrm>
          <a:prstGeom prst="rect">
            <a:avLst/>
          </a:prstGeom>
        </p:spPr>
      </p:pic>
      <p:sp>
        <p:nvSpPr>
          <p:cNvPr id="7" name="Text 4"/>
          <p:cNvSpPr/>
          <p:nvPr/>
        </p:nvSpPr>
        <p:spPr>
          <a:xfrm>
            <a:off x="4663440" y="196596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01</a:t>
            </a:r>
            <a:endParaRPr lang="en-US" sz="2400" dirty="0"/>
          </a:p>
        </p:txBody>
      </p:sp>
      <p:sp>
        <p:nvSpPr>
          <p:cNvPr id="8" name="Text 5"/>
          <p:cNvSpPr/>
          <p:nvPr/>
        </p:nvSpPr>
        <p:spPr>
          <a:xfrm>
            <a:off x="1874520" y="208483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Mở đầu</a:t>
            </a:r>
            <a:endParaRPr lang="en-US" sz="1600" dirty="0"/>
          </a:p>
        </p:txBody>
      </p:sp>
      <p:sp>
        <p:nvSpPr>
          <p:cNvPr id="9" name="Text 6"/>
          <p:cNvSpPr/>
          <p:nvPr/>
        </p:nvSpPr>
        <p:spPr>
          <a:xfrm>
            <a:off x="1874520" y="254203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Lý do, mục tiêu, phạm vi</a:t>
            </a:r>
            <a:endParaRPr lang="en-US" sz="1200" dirty="0"/>
          </a:p>
        </p:txBody>
      </p:sp>
      <p:sp>
        <p:nvSpPr>
          <p:cNvPr id="10" name="Shape 7"/>
          <p:cNvSpPr/>
          <p:nvPr/>
        </p:nvSpPr>
        <p:spPr>
          <a:xfrm>
            <a:off x="6172200" y="182880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1" name="Shape 8"/>
          <p:cNvSpPr/>
          <p:nvPr/>
        </p:nvSpPr>
        <p:spPr>
          <a:xfrm>
            <a:off x="6428232" y="2139696"/>
            <a:ext cx="777240" cy="777240"/>
          </a:xfrm>
          <a:prstGeom prst="ellipse">
            <a:avLst/>
          </a:prstGeom>
          <a:solidFill>
            <a:srgbClr val="D8F3EE"/>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30314" y="2341778"/>
            <a:ext cx="373075" cy="373075"/>
          </a:xfrm>
          <a:prstGeom prst="rect">
            <a:avLst/>
          </a:prstGeom>
        </p:spPr>
      </p:pic>
      <p:sp>
        <p:nvSpPr>
          <p:cNvPr id="13" name="Text 9"/>
          <p:cNvSpPr/>
          <p:nvPr/>
        </p:nvSpPr>
        <p:spPr>
          <a:xfrm>
            <a:off x="10195560" y="196596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02</a:t>
            </a:r>
            <a:endParaRPr lang="en-US" sz="2400" dirty="0"/>
          </a:p>
        </p:txBody>
      </p:sp>
      <p:sp>
        <p:nvSpPr>
          <p:cNvPr id="14" name="Text 10"/>
          <p:cNvSpPr/>
          <p:nvPr/>
        </p:nvSpPr>
        <p:spPr>
          <a:xfrm>
            <a:off x="7406640" y="208483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Cơ sở lý thuyết &amp; công nghệ</a:t>
            </a:r>
            <a:endParaRPr lang="en-US" sz="1600" dirty="0"/>
          </a:p>
        </p:txBody>
      </p:sp>
      <p:sp>
        <p:nvSpPr>
          <p:cNvPr id="15" name="Text 11"/>
          <p:cNvSpPr/>
          <p:nvPr/>
        </p:nvSpPr>
        <p:spPr>
          <a:xfrm>
            <a:off x="7406640" y="254203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TCP/IP, Socket, Concurrency</a:t>
            </a:r>
            <a:endParaRPr lang="en-US" sz="1200" dirty="0"/>
          </a:p>
        </p:txBody>
      </p:sp>
      <p:sp>
        <p:nvSpPr>
          <p:cNvPr id="16" name="Shape 12"/>
          <p:cNvSpPr/>
          <p:nvPr/>
        </p:nvSpPr>
        <p:spPr>
          <a:xfrm>
            <a:off x="640080" y="356616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7" name="Shape 13"/>
          <p:cNvSpPr/>
          <p:nvPr/>
        </p:nvSpPr>
        <p:spPr>
          <a:xfrm>
            <a:off x="896112" y="3877056"/>
            <a:ext cx="777240" cy="777240"/>
          </a:xfrm>
          <a:prstGeom prst="ellipse">
            <a:avLst/>
          </a:prstGeom>
          <a:solidFill>
            <a:srgbClr val="D8F3E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098194" y="4079138"/>
            <a:ext cx="373075" cy="373075"/>
          </a:xfrm>
          <a:prstGeom prst="rect">
            <a:avLst/>
          </a:prstGeom>
        </p:spPr>
      </p:pic>
      <p:sp>
        <p:nvSpPr>
          <p:cNvPr id="19" name="Text 14"/>
          <p:cNvSpPr/>
          <p:nvPr/>
        </p:nvSpPr>
        <p:spPr>
          <a:xfrm>
            <a:off x="4663440" y="370332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03</a:t>
            </a:r>
            <a:endParaRPr lang="en-US" sz="2400" dirty="0"/>
          </a:p>
        </p:txBody>
      </p:sp>
      <p:sp>
        <p:nvSpPr>
          <p:cNvPr id="20" name="Text 15"/>
          <p:cNvSpPr/>
          <p:nvPr/>
        </p:nvSpPr>
        <p:spPr>
          <a:xfrm>
            <a:off x="1874520" y="382219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Thiết kế kiến trúc hệ thống</a:t>
            </a:r>
            <a:endParaRPr lang="en-US" sz="1600" dirty="0"/>
          </a:p>
        </p:txBody>
      </p:sp>
      <p:sp>
        <p:nvSpPr>
          <p:cNvPr id="21" name="Text 16"/>
          <p:cNvSpPr/>
          <p:nvPr/>
        </p:nvSpPr>
        <p:spPr>
          <a:xfrm>
            <a:off x="1874520" y="427939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Client–Server, giao thức, sequence</a:t>
            </a:r>
            <a:endParaRPr lang="en-US" sz="1200" dirty="0"/>
          </a:p>
        </p:txBody>
      </p:sp>
      <p:sp>
        <p:nvSpPr>
          <p:cNvPr id="22" name="Shape 17"/>
          <p:cNvSpPr/>
          <p:nvPr/>
        </p:nvSpPr>
        <p:spPr>
          <a:xfrm>
            <a:off x="6172200" y="356616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23" name="Shape 18"/>
          <p:cNvSpPr/>
          <p:nvPr/>
        </p:nvSpPr>
        <p:spPr>
          <a:xfrm>
            <a:off x="6428232" y="3877056"/>
            <a:ext cx="777240" cy="777240"/>
          </a:xfrm>
          <a:prstGeom prst="ellipse">
            <a:avLst/>
          </a:prstGeom>
          <a:solidFill>
            <a:srgbClr val="D8F3EE"/>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630314" y="4079138"/>
            <a:ext cx="373075" cy="373075"/>
          </a:xfrm>
          <a:prstGeom prst="rect">
            <a:avLst/>
          </a:prstGeom>
        </p:spPr>
      </p:pic>
      <p:sp>
        <p:nvSpPr>
          <p:cNvPr id="25" name="Text 19"/>
          <p:cNvSpPr/>
          <p:nvPr/>
        </p:nvSpPr>
        <p:spPr>
          <a:xfrm>
            <a:off x="10195560" y="370332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04</a:t>
            </a:r>
            <a:endParaRPr lang="en-US" sz="2400" dirty="0"/>
          </a:p>
        </p:txBody>
      </p:sp>
      <p:sp>
        <p:nvSpPr>
          <p:cNvPr id="26" name="Text 20"/>
          <p:cNvSpPr/>
          <p:nvPr/>
        </p:nvSpPr>
        <p:spPr>
          <a:xfrm>
            <a:off x="7406640" y="382219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Cài đặt &amp; triển khai mã nguồn</a:t>
            </a:r>
            <a:endParaRPr lang="en-US" sz="1600" dirty="0"/>
          </a:p>
        </p:txBody>
      </p:sp>
      <p:sp>
        <p:nvSpPr>
          <p:cNvPr id="27" name="Text 21"/>
          <p:cNvSpPr/>
          <p:nvPr/>
        </p:nvSpPr>
        <p:spPr>
          <a:xfrm>
            <a:off x="7406640" y="427939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Cấu trúc dự án, Server, Client</a:t>
            </a:r>
            <a:endParaRPr lang="en-US" sz="1200" dirty="0"/>
          </a:p>
        </p:txBody>
      </p:sp>
      <p:sp>
        <p:nvSpPr>
          <p:cNvPr id="28" name="Shape 22"/>
          <p:cNvSpPr/>
          <p:nvPr/>
        </p:nvSpPr>
        <p:spPr>
          <a:xfrm>
            <a:off x="640080" y="530352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29" name="Shape 23"/>
          <p:cNvSpPr/>
          <p:nvPr/>
        </p:nvSpPr>
        <p:spPr>
          <a:xfrm>
            <a:off x="896112" y="5614416"/>
            <a:ext cx="777240" cy="777240"/>
          </a:xfrm>
          <a:prstGeom prst="ellipse">
            <a:avLst/>
          </a:prstGeom>
          <a:solidFill>
            <a:srgbClr val="D8F3EE"/>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1098194" y="5816498"/>
            <a:ext cx="373075" cy="373075"/>
          </a:xfrm>
          <a:prstGeom prst="rect">
            <a:avLst/>
          </a:prstGeom>
        </p:spPr>
      </p:pic>
      <p:sp>
        <p:nvSpPr>
          <p:cNvPr id="31" name="Text 24"/>
          <p:cNvSpPr/>
          <p:nvPr/>
        </p:nvSpPr>
        <p:spPr>
          <a:xfrm>
            <a:off x="4663440" y="544068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05</a:t>
            </a:r>
            <a:endParaRPr lang="en-US" sz="2400" dirty="0"/>
          </a:p>
        </p:txBody>
      </p:sp>
      <p:sp>
        <p:nvSpPr>
          <p:cNvPr id="32" name="Text 25"/>
          <p:cNvSpPr/>
          <p:nvPr/>
        </p:nvSpPr>
        <p:spPr>
          <a:xfrm>
            <a:off x="1874520" y="555955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Kiểm thử, đánh giá, khắc phục</a:t>
            </a:r>
            <a:endParaRPr lang="en-US" sz="1600" dirty="0"/>
          </a:p>
        </p:txBody>
      </p:sp>
      <p:sp>
        <p:nvSpPr>
          <p:cNvPr id="33" name="Text 26"/>
          <p:cNvSpPr/>
          <p:nvPr/>
        </p:nvSpPr>
        <p:spPr>
          <a:xfrm>
            <a:off x="1874520" y="601675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Test case, khó khăn &amp; giải pháp</a:t>
            </a:r>
            <a:endParaRPr lang="en-US" sz="1200" dirty="0"/>
          </a:p>
        </p:txBody>
      </p:sp>
      <p:sp>
        <p:nvSpPr>
          <p:cNvPr id="34" name="Shape 27"/>
          <p:cNvSpPr/>
          <p:nvPr/>
        </p:nvSpPr>
        <p:spPr>
          <a:xfrm>
            <a:off x="6172200" y="5303520"/>
            <a:ext cx="5074920" cy="1417320"/>
          </a:xfrm>
          <a:prstGeom prst="roundRect">
            <a:avLst>
              <a:gd name="adj" fmla="val 580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35" name="Shape 28"/>
          <p:cNvSpPr/>
          <p:nvPr/>
        </p:nvSpPr>
        <p:spPr>
          <a:xfrm>
            <a:off x="6428232" y="5614416"/>
            <a:ext cx="777240" cy="777240"/>
          </a:xfrm>
          <a:prstGeom prst="ellipse">
            <a:avLst/>
          </a:prstGeom>
          <a:solidFill>
            <a:srgbClr val="D8F3EE"/>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6630314" y="5816498"/>
            <a:ext cx="373075" cy="373075"/>
          </a:xfrm>
          <a:prstGeom prst="rect">
            <a:avLst/>
          </a:prstGeom>
        </p:spPr>
      </p:pic>
      <p:sp>
        <p:nvSpPr>
          <p:cNvPr id="37" name="Text 29"/>
          <p:cNvSpPr/>
          <p:nvPr/>
        </p:nvSpPr>
        <p:spPr>
          <a:xfrm>
            <a:off x="10195560" y="5440680"/>
            <a:ext cx="822960" cy="457200"/>
          </a:xfrm>
          <a:prstGeom prst="rect">
            <a:avLst/>
          </a:prstGeom>
          <a:noFill/>
          <a:ln/>
        </p:spPr>
        <p:txBody>
          <a:bodyPr wrap="square" lIns="0" tIns="0" rIns="0" bIns="0" rtlCol="0" anchor="ctr"/>
          <a:lstStyle/>
          <a:p>
            <a:pPr marL="0" indent="0" algn="r">
              <a:buNone/>
            </a:pPr>
            <a:r>
              <a:rPr lang="en-US" sz="2400" b="1" dirty="0">
                <a:solidFill>
                  <a:srgbClr val="D3E4EA"/>
                </a:solidFill>
                <a:latin typeface="Arial" pitchFamily="34" charset="0"/>
                <a:ea typeface="Arial" pitchFamily="34" charset="-122"/>
                <a:cs typeface="Arial" pitchFamily="34" charset="-120"/>
              </a:rPr>
              <a:t>06</a:t>
            </a:r>
            <a:endParaRPr lang="en-US" sz="2400" dirty="0"/>
          </a:p>
        </p:txBody>
      </p:sp>
      <p:sp>
        <p:nvSpPr>
          <p:cNvPr id="38" name="Text 30"/>
          <p:cNvSpPr/>
          <p:nvPr/>
        </p:nvSpPr>
        <p:spPr>
          <a:xfrm>
            <a:off x="7406640" y="5559552"/>
            <a:ext cx="3611880" cy="45720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Kết luận &amp; hướng phát triển</a:t>
            </a:r>
            <a:endParaRPr lang="en-US" sz="1600" dirty="0"/>
          </a:p>
        </p:txBody>
      </p:sp>
      <p:sp>
        <p:nvSpPr>
          <p:cNvPr id="39" name="Text 31"/>
          <p:cNvSpPr/>
          <p:nvPr/>
        </p:nvSpPr>
        <p:spPr>
          <a:xfrm>
            <a:off x="7406640" y="6016752"/>
            <a:ext cx="3611880" cy="54864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Thành tựu, hạn chế, tương lai</a:t>
            </a:r>
            <a:endParaRPr lang="en-US" sz="1200" dirty="0"/>
          </a:p>
        </p:txBody>
      </p:sp>
      <p:sp>
        <p:nvSpPr>
          <p:cNvPr id="40" name="Text 3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41" name="Text 3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1</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1</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MỞ ĐẦU</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Lý do chọn đề tài</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Mục tiêu đề tài</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Đối tượng và phạm vi nghiên cứu</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1.1  ·  LÝ DO CHỌN ĐỀ TÀI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Vì sao chọn TCP cho ứng dụng chat?</a:t>
            </a:r>
            <a:endParaRPr lang="en-US" sz="3000" dirty="0"/>
          </a:p>
        </p:txBody>
      </p:sp>
      <p:sp>
        <p:nvSpPr>
          <p:cNvPr id="4" name="Shape 2"/>
          <p:cNvSpPr/>
          <p:nvPr/>
        </p:nvSpPr>
        <p:spPr>
          <a:xfrm>
            <a:off x="640080" y="1783080"/>
            <a:ext cx="649224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960120" y="2057400"/>
            <a:ext cx="5852160" cy="361188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50" dirty="0">
                <a:solidFill>
                  <a:srgbClr val="16232E"/>
                </a:solidFill>
                <a:latin typeface="Calibri" pitchFamily="34" charset="0"/>
                <a:ea typeface="Calibri" pitchFamily="34" charset="-122"/>
                <a:cs typeface="Calibri" pitchFamily="34" charset="-120"/>
              </a:rPr>
              <a:t>Sự bùng nổ của các ứng dụng nhắn tin thời gian thực (Messenger, Zalo, Telegram) đã thay đổi hoàn toàn cách con người giao tiếp.</a:t>
            </a:r>
            <a:endParaRPr lang="en-US" sz="1450" dirty="0"/>
          </a:p>
          <a:p>
            <a:pPr marL="0" indent="0">
              <a:lnSpc>
                <a:spcPct val="115000"/>
              </a:lnSpc>
              <a:spcAft>
                <a:spcPts val="1000"/>
              </a:spcAft>
              <a:buNone/>
            </a:pPr>
            <a:r>
              <a:rPr lang="en-US" sz="1450" dirty="0">
                <a:solidFill>
                  <a:srgbClr val="16232E"/>
                </a:solidFill>
                <a:latin typeface="Calibri" pitchFamily="34" charset="0"/>
                <a:ea typeface="Calibri" pitchFamily="34" charset="-122"/>
                <a:cs typeface="Calibri" pitchFamily="34" charset="-120"/>
              </a:rPr>
              <a:t>Yêu cầu cốt lõi: tin nhắn không được mất mát, không đảo lộn thứ tự dù mạng không ổn định.</a:t>
            </a:r>
            <a:endParaRPr lang="en-US" sz="1450" dirty="0"/>
          </a:p>
          <a:p>
            <a:pPr marL="0" indent="0">
              <a:lnSpc>
                <a:spcPct val="115000"/>
              </a:lnSpc>
              <a:spcAft>
                <a:spcPts val="1000"/>
              </a:spcAft>
              <a:buNone/>
            </a:pPr>
            <a:r>
              <a:rPr lang="en-US" sz="1450" dirty="0">
                <a:solidFill>
                  <a:srgbClr val="16232E"/>
                </a:solidFill>
                <a:latin typeface="Calibri" pitchFamily="34" charset="0"/>
                <a:ea typeface="Calibri" pitchFamily="34" charset="-122"/>
                <a:cs typeface="Calibri" pitchFamily="34" charset="-120"/>
              </a:rPr>
              <a:t>Yêu cầu khắt khe này dẫn đến sự thống trị của giao thức TCP trong các hệ thống thời gian thực.</a:t>
            </a:r>
            <a:endParaRPr lang="en-US" sz="1450" dirty="0"/>
          </a:p>
          <a:p>
            <a:pPr marL="0" indent="0">
              <a:lnSpc>
                <a:spcPct val="115000"/>
              </a:lnSpc>
              <a:buNone/>
            </a:pPr>
            <a:r>
              <a:rPr lang="en-US" sz="1450" dirty="0">
                <a:solidFill>
                  <a:srgbClr val="16232E"/>
                </a:solidFill>
                <a:latin typeface="Calibri" pitchFamily="34" charset="0"/>
                <a:ea typeface="Calibri" pitchFamily="34" charset="-122"/>
                <a:cs typeface="Calibri" pitchFamily="34" charset="-120"/>
              </a:rPr>
              <a:t>Đề tài đi sâu tìm hiểu kiến trúc mạng dưới tầng giao thức, thay vì chỉ dùng các API bậc cao có sẵn.</a:t>
            </a:r>
            <a:endParaRPr lang="en-US" sz="1450" dirty="0"/>
          </a:p>
        </p:txBody>
      </p:sp>
      <p:sp>
        <p:nvSpPr>
          <p:cNvPr id="6" name="Shape 4"/>
          <p:cNvSpPr/>
          <p:nvPr/>
        </p:nvSpPr>
        <p:spPr>
          <a:xfrm>
            <a:off x="7360920" y="1783080"/>
            <a:ext cx="4206240" cy="1965960"/>
          </a:xfrm>
          <a:prstGeom prst="roundRect">
            <a:avLst>
              <a:gd name="adj" fmla="val 4186"/>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7" name="Shape 5"/>
          <p:cNvSpPr/>
          <p:nvPr/>
        </p:nvSpPr>
        <p:spPr>
          <a:xfrm>
            <a:off x="7635240" y="2011680"/>
            <a:ext cx="640080" cy="640080"/>
          </a:xfrm>
          <a:prstGeom prst="ellipse">
            <a:avLst/>
          </a:prstGeom>
          <a:solidFill>
            <a:srgbClr val="0A2A43"/>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801661" y="2178101"/>
            <a:ext cx="307238" cy="307238"/>
          </a:xfrm>
          <a:prstGeom prst="rect">
            <a:avLst/>
          </a:prstGeom>
        </p:spPr>
      </p:pic>
      <p:sp>
        <p:nvSpPr>
          <p:cNvPr id="9" name="Text 6"/>
          <p:cNvSpPr/>
          <p:nvPr/>
        </p:nvSpPr>
        <p:spPr>
          <a:xfrm>
            <a:off x="8412480" y="2057400"/>
            <a:ext cx="3017520" cy="5486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Toàn vẹn &amp; đúng thứ tự</a:t>
            </a:r>
            <a:endParaRPr lang="en-US" sz="1500" dirty="0"/>
          </a:p>
        </p:txBody>
      </p:sp>
      <p:sp>
        <p:nvSpPr>
          <p:cNvPr id="10" name="Text 7"/>
          <p:cNvSpPr/>
          <p:nvPr/>
        </p:nvSpPr>
        <p:spPr>
          <a:xfrm>
            <a:off x="7635240" y="2788920"/>
            <a:ext cx="3703320" cy="822960"/>
          </a:xfrm>
          <a:prstGeom prst="rect">
            <a:avLst/>
          </a:prstGeom>
          <a:noFill/>
          <a:ln/>
        </p:spPr>
        <p:txBody>
          <a:bodyPr wrap="square" lIns="0" tIns="0" rIns="0" bIns="0" rtlCol="0" anchor="ctr"/>
          <a:lstStyle/>
          <a:p>
            <a:pPr marL="0" indent="0">
              <a:buNone/>
            </a:pPr>
            <a:r>
              <a:rPr lang="en-US" sz="1200" dirty="0">
                <a:solidFill>
                  <a:srgbClr val="C7DAE4"/>
                </a:solidFill>
                <a:latin typeface="Calibri" pitchFamily="34" charset="0"/>
                <a:ea typeface="Calibri" pitchFamily="34" charset="-122"/>
                <a:cs typeface="Calibri" pitchFamily="34" charset="-120"/>
              </a:rPr>
              <a:t>Không mất gói, không đảo lộn dữ liệu nhắn tin</a:t>
            </a:r>
            <a:endParaRPr lang="en-US" sz="1200" dirty="0"/>
          </a:p>
        </p:txBody>
      </p:sp>
      <p:sp>
        <p:nvSpPr>
          <p:cNvPr id="11" name="Shape 8"/>
          <p:cNvSpPr/>
          <p:nvPr/>
        </p:nvSpPr>
        <p:spPr>
          <a:xfrm>
            <a:off x="7360920" y="3931920"/>
            <a:ext cx="4206240" cy="2011680"/>
          </a:xfrm>
          <a:prstGeom prst="roundRect">
            <a:avLst>
              <a:gd name="adj" fmla="val 4091"/>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2" name="Shape 9"/>
          <p:cNvSpPr/>
          <p:nvPr/>
        </p:nvSpPr>
        <p:spPr>
          <a:xfrm>
            <a:off x="7635240" y="4160520"/>
            <a:ext cx="640080" cy="640080"/>
          </a:xfrm>
          <a:prstGeom prst="ellipse">
            <a:avLst/>
          </a:prstGeom>
          <a:solidFill>
            <a:srgbClr val="D8F3E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801661" y="4326941"/>
            <a:ext cx="307238" cy="307238"/>
          </a:xfrm>
          <a:prstGeom prst="rect">
            <a:avLst/>
          </a:prstGeom>
        </p:spPr>
      </p:pic>
      <p:sp>
        <p:nvSpPr>
          <p:cNvPr id="14" name="Text 10"/>
          <p:cNvSpPr/>
          <p:nvPr/>
        </p:nvSpPr>
        <p:spPr>
          <a:xfrm>
            <a:off x="8412480" y="4206240"/>
            <a:ext cx="3017520" cy="54864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Đi sâu tầng giao vận</a:t>
            </a:r>
            <a:endParaRPr lang="en-US" sz="1500" dirty="0"/>
          </a:p>
        </p:txBody>
      </p:sp>
      <p:sp>
        <p:nvSpPr>
          <p:cNvPr id="15" name="Text 11"/>
          <p:cNvSpPr/>
          <p:nvPr/>
        </p:nvSpPr>
        <p:spPr>
          <a:xfrm>
            <a:off x="7635240" y="4937760"/>
            <a:ext cx="3703320" cy="822960"/>
          </a:xfrm>
          <a:prstGeom prst="rect">
            <a:avLst/>
          </a:prstGeom>
          <a:noFill/>
          <a:ln/>
        </p:spPr>
        <p:txBody>
          <a:bodyPr wrap="square" lIns="0" tIns="0" rIns="0" bIns="0" rtlCol="0" anchor="ctr"/>
          <a:lstStyle/>
          <a:p>
            <a:pPr marL="0" indent="0">
              <a:buNone/>
            </a:pPr>
            <a:r>
              <a:rPr lang="en-US" sz="1200" dirty="0">
                <a:solidFill>
                  <a:srgbClr val="5B7182"/>
                </a:solidFill>
                <a:latin typeface="Calibri" pitchFamily="34" charset="0"/>
                <a:ea typeface="Calibri" pitchFamily="34" charset="-122"/>
                <a:cs typeface="Calibri" pitchFamily="34" charset="-120"/>
              </a:rPr>
              <a:t>Hiểu bản chất Socket thay vì chỉ dùng API bậc cao</a:t>
            </a:r>
            <a:endParaRPr lang="en-US" sz="1200" dirty="0"/>
          </a:p>
        </p:txBody>
      </p:sp>
      <p:sp>
        <p:nvSpPr>
          <p:cNvPr id="16" name="Text 1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1.2 &amp; 1.3  ·  MỤC TIÊU &amp; PHẠM VI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Mục tiêu đề tài và phạm vi nghiên cứu</a:t>
            </a:r>
            <a:endParaRPr lang="en-US" sz="3000" dirty="0"/>
          </a:p>
        </p:txBody>
      </p:sp>
      <p:sp>
        <p:nvSpPr>
          <p:cNvPr id="4" name="Text 2"/>
          <p:cNvSpPr/>
          <p:nvPr/>
        </p:nvSpPr>
        <p:spPr>
          <a:xfrm>
            <a:off x="640080" y="1737360"/>
            <a:ext cx="5486400" cy="320040"/>
          </a:xfrm>
          <a:prstGeom prst="rect">
            <a:avLst/>
          </a:prstGeom>
          <a:noFill/>
          <a:ln/>
        </p:spPr>
        <p:txBody>
          <a:bodyPr wrap="square" lIns="0" tIns="0" rIns="0" bIns="0" rtlCol="0" anchor="ctr"/>
          <a:lstStyle/>
          <a:p>
            <a:pPr marL="0" indent="0">
              <a:buNone/>
            </a:pPr>
            <a:r>
              <a:rPr lang="en-US" sz="1300" b="1" kern="0" spc="100" dirty="0">
                <a:solidFill>
                  <a:srgbClr val="0E9A85"/>
                </a:solidFill>
                <a:latin typeface="Calibri" pitchFamily="34" charset="0"/>
                <a:ea typeface="Calibri" pitchFamily="34" charset="-122"/>
                <a:cs typeface="Calibri" pitchFamily="34" charset="-120"/>
              </a:rPr>
              <a:t>MỤC TIÊU ĐỀ TÀI</a:t>
            </a:r>
            <a:endParaRPr lang="en-US" sz="1300" dirty="0"/>
          </a:p>
        </p:txBody>
      </p:sp>
      <p:sp>
        <p:nvSpPr>
          <p:cNvPr id="5" name="Shape 3"/>
          <p:cNvSpPr/>
          <p:nvPr/>
        </p:nvSpPr>
        <p:spPr>
          <a:xfrm>
            <a:off x="640080" y="2148840"/>
            <a:ext cx="502920" cy="502920"/>
          </a:xfrm>
          <a:prstGeom prst="ellipse">
            <a:avLst/>
          </a:prstGeom>
          <a:solidFill>
            <a:srgbClr val="D8F3E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0839" y="2279599"/>
            <a:ext cx="241402" cy="241402"/>
          </a:xfrm>
          <a:prstGeom prst="rect">
            <a:avLst/>
          </a:prstGeom>
        </p:spPr>
      </p:pic>
      <p:sp>
        <p:nvSpPr>
          <p:cNvPr id="7" name="Text 4"/>
          <p:cNvSpPr/>
          <p:nvPr/>
        </p:nvSpPr>
        <p:spPr>
          <a:xfrm>
            <a:off x="1280160" y="2121408"/>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Hệ thống ổn định</a:t>
            </a:r>
            <a:endParaRPr lang="en-US" sz="1400" dirty="0"/>
          </a:p>
        </p:txBody>
      </p:sp>
      <p:sp>
        <p:nvSpPr>
          <p:cNvPr id="8" name="Text 5"/>
          <p:cNvSpPr/>
          <p:nvPr/>
        </p:nvSpPr>
        <p:spPr>
          <a:xfrm>
            <a:off x="1280160" y="2441448"/>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Chat Client–Server hoạt động ổn định, mượt mà</a:t>
            </a:r>
            <a:endParaRPr lang="en-US" sz="1150" dirty="0"/>
          </a:p>
        </p:txBody>
      </p:sp>
      <p:sp>
        <p:nvSpPr>
          <p:cNvPr id="9" name="Shape 6"/>
          <p:cNvSpPr/>
          <p:nvPr/>
        </p:nvSpPr>
        <p:spPr>
          <a:xfrm>
            <a:off x="640080" y="3227832"/>
            <a:ext cx="502920" cy="502920"/>
          </a:xfrm>
          <a:prstGeom prst="ellipse">
            <a:avLst/>
          </a:prstGeom>
          <a:solidFill>
            <a:srgbClr val="D8F3EE"/>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70839" y="3358591"/>
            <a:ext cx="241402" cy="241402"/>
          </a:xfrm>
          <a:prstGeom prst="rect">
            <a:avLst/>
          </a:prstGeom>
        </p:spPr>
      </p:pic>
      <p:sp>
        <p:nvSpPr>
          <p:cNvPr id="11" name="Text 7"/>
          <p:cNvSpPr/>
          <p:nvPr/>
        </p:nvSpPr>
        <p:spPr>
          <a:xfrm>
            <a:off x="1280160" y="3200400"/>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Đa dạng tính năng</a:t>
            </a:r>
            <a:endParaRPr lang="en-US" sz="1400" dirty="0"/>
          </a:p>
        </p:txBody>
      </p:sp>
      <p:sp>
        <p:nvSpPr>
          <p:cNvPr id="12" name="Text 8"/>
          <p:cNvSpPr/>
          <p:nvPr/>
        </p:nvSpPr>
        <p:spPr>
          <a:xfrm>
            <a:off x="1280160" y="3520440"/>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Broadcast, Unicast, quản lý nhóm, gửi tập tin đa phương tiện</a:t>
            </a:r>
            <a:endParaRPr lang="en-US" sz="1150" dirty="0"/>
          </a:p>
        </p:txBody>
      </p:sp>
      <p:sp>
        <p:nvSpPr>
          <p:cNvPr id="13" name="Shape 9"/>
          <p:cNvSpPr/>
          <p:nvPr/>
        </p:nvSpPr>
        <p:spPr>
          <a:xfrm>
            <a:off x="640080" y="4306824"/>
            <a:ext cx="502920" cy="502920"/>
          </a:xfrm>
          <a:prstGeom prst="ellipse">
            <a:avLst/>
          </a:prstGeom>
          <a:solidFill>
            <a:srgbClr val="D8F3EE"/>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770839" y="4437583"/>
            <a:ext cx="241402" cy="241402"/>
          </a:xfrm>
          <a:prstGeom prst="rect">
            <a:avLst/>
          </a:prstGeom>
        </p:spPr>
      </p:pic>
      <p:sp>
        <p:nvSpPr>
          <p:cNvPr id="15" name="Text 10"/>
          <p:cNvSpPr/>
          <p:nvPr/>
        </p:nvSpPr>
        <p:spPr>
          <a:xfrm>
            <a:off x="1280160" y="4279392"/>
            <a:ext cx="466344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Hiểu sâu Socket</a:t>
            </a:r>
            <a:endParaRPr lang="en-US" sz="1400" dirty="0"/>
          </a:p>
        </p:txBody>
      </p:sp>
      <p:sp>
        <p:nvSpPr>
          <p:cNvPr id="16" name="Text 11"/>
          <p:cNvSpPr/>
          <p:nvPr/>
        </p:nvSpPr>
        <p:spPr>
          <a:xfrm>
            <a:off x="1280160" y="4599432"/>
            <a:ext cx="4892040" cy="548640"/>
          </a:xfrm>
          <a:prstGeom prst="rect">
            <a:avLst/>
          </a:prstGeom>
          <a:noFill/>
          <a:ln/>
        </p:spPr>
        <p:txBody>
          <a:bodyPr wrap="square" lIns="0" tIns="0" rIns="0" bIns="0" rtlCol="0" anchor="ctr"/>
          <a:lstStyle/>
          <a:p>
            <a:pPr marL="0" indent="0">
              <a:buNone/>
            </a:pPr>
            <a:r>
              <a:rPr lang="en-US" sz="1150" dirty="0">
                <a:solidFill>
                  <a:srgbClr val="5B7182"/>
                </a:solidFill>
                <a:latin typeface="Calibri" pitchFamily="34" charset="0"/>
                <a:ea typeface="Calibri" pitchFamily="34" charset="-122"/>
                <a:cs typeface="Calibri" pitchFamily="34" charset="-120"/>
              </a:rPr>
              <a:t>Xử lý bất đồng bộ và bài toán TCP Sticky Packets</a:t>
            </a:r>
            <a:endParaRPr lang="en-US" sz="1150" dirty="0"/>
          </a:p>
        </p:txBody>
      </p:sp>
      <p:sp>
        <p:nvSpPr>
          <p:cNvPr id="17" name="Shape 12"/>
          <p:cNvSpPr/>
          <p:nvPr/>
        </p:nvSpPr>
        <p:spPr>
          <a:xfrm>
            <a:off x="6446520" y="1737360"/>
            <a:ext cx="5120640" cy="4160520"/>
          </a:xfrm>
          <a:prstGeom prst="roundRect">
            <a:avLst>
              <a:gd name="adj" fmla="val 1978"/>
            </a:avLst>
          </a:prstGeom>
          <a:solidFill>
            <a:srgbClr val="0A2A43"/>
          </a:solidFill>
          <a:ln/>
          <a:effectLst>
            <a:outerShdw blurRad="101600" dist="38100" dir="5400000" algn="bl" rotWithShape="0">
              <a:srgbClr val="0A2A43">
                <a:alpha val="10000"/>
              </a:srgbClr>
            </a:outerShdw>
          </a:effectLst>
        </p:spPr>
        <p:txBody>
          <a:bodyPr/>
          <a:lstStyle/>
          <a:p>
            <a:endParaRPr lang="en-US"/>
          </a:p>
        </p:txBody>
      </p:sp>
      <p:sp>
        <p:nvSpPr>
          <p:cNvPr id="18" name="Text 13"/>
          <p:cNvSpPr/>
          <p:nvPr/>
        </p:nvSpPr>
        <p:spPr>
          <a:xfrm>
            <a:off x="6766560" y="1965960"/>
            <a:ext cx="4572000" cy="320040"/>
          </a:xfrm>
          <a:prstGeom prst="rect">
            <a:avLst/>
          </a:prstGeom>
          <a:noFill/>
          <a:ln/>
        </p:spPr>
        <p:txBody>
          <a:bodyPr wrap="square" lIns="0" tIns="0" rIns="0" bIns="0" rtlCol="0" anchor="ctr"/>
          <a:lstStyle/>
          <a:p>
            <a:pPr marL="0" indent="0">
              <a:buNone/>
            </a:pPr>
            <a:r>
              <a:rPr lang="en-US" sz="1300" b="1" kern="0" spc="100" dirty="0">
                <a:solidFill>
                  <a:srgbClr val="3FE0C5"/>
                </a:solidFill>
                <a:latin typeface="Calibri" pitchFamily="34" charset="0"/>
                <a:ea typeface="Calibri" pitchFamily="34" charset="-122"/>
                <a:cs typeface="Calibri" pitchFamily="34" charset="-120"/>
              </a:rPr>
              <a:t>PHẠM VI NGHIÊN CỨU</a:t>
            </a:r>
            <a:endParaRPr lang="en-US" sz="1300" dirty="0"/>
          </a:p>
        </p:txBody>
      </p:sp>
      <p:sp>
        <p:nvSpPr>
          <p:cNvPr id="19" name="Text 14"/>
          <p:cNvSpPr/>
          <p:nvPr/>
        </p:nvSpPr>
        <p:spPr>
          <a:xfrm>
            <a:off x="6766560" y="2423160"/>
            <a:ext cx="4526280" cy="3291840"/>
          </a:xfrm>
          <a:prstGeom prst="rect">
            <a:avLst/>
          </a:prstGeom>
          <a:noFill/>
          <a:ln/>
        </p:spPr>
        <p:txBody>
          <a:bodyPr wrap="square" lIns="0" tIns="0" rIns="0" bIns="0" rtlCol="0" anchor="ctr"/>
          <a:lstStyle/>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Đối tượng: </a:t>
            </a:r>
            <a:r>
              <a:rPr lang="en-US" sz="1300" dirty="0">
                <a:solidFill>
                  <a:srgbClr val="C7DAE4"/>
                </a:solidFill>
                <a:latin typeface="Calibri" pitchFamily="34" charset="0"/>
                <a:ea typeface="Calibri" pitchFamily="34" charset="-122"/>
                <a:cs typeface="Calibri" pitchFamily="34" charset="-120"/>
              </a:rPr>
              <a:t>Socket TCP/IP, Data Stream, mã hoá JSON.</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Môi trường: </a:t>
            </a:r>
            <a:r>
              <a:rPr lang="en-US" sz="1300" dirty="0">
                <a:solidFill>
                  <a:srgbClr val="C7DAE4"/>
                </a:solidFill>
                <a:latin typeface="Calibri" pitchFamily="34" charset="0"/>
                <a:ea typeface="Calibri" pitchFamily="34" charset="-122"/>
                <a:cs typeface="Calibri" pitchFamily="34" charset="-120"/>
              </a:rPr>
              <a:t>Mạng nội bộ LAN / Localhost.</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Ngôn ngữ &amp; thư viện: </a:t>
            </a:r>
            <a:r>
              <a:rPr lang="en-US" sz="1300" dirty="0">
                <a:solidFill>
                  <a:srgbClr val="C7DAE4"/>
                </a:solidFill>
                <a:latin typeface="Calibri" pitchFamily="34" charset="0"/>
                <a:ea typeface="Calibri" pitchFamily="34" charset="-122"/>
                <a:cs typeface="Calibri" pitchFamily="34" charset="-120"/>
              </a:rPr>
              <a:t>Python 3 kết hợp thư viện PySide6 (Qt for Python).</a:t>
            </a:r>
            <a:endParaRPr lang="en-US" sz="1300" dirty="0"/>
          </a:p>
          <a:p>
            <a:pPr marL="0" indent="0">
              <a:lnSpc>
                <a:spcPct val="110000"/>
              </a:lnSpc>
              <a:buNone/>
            </a:pPr>
            <a:r>
              <a:rPr lang="en-US" sz="1300" b="1" dirty="0">
                <a:solidFill>
                  <a:srgbClr val="FFFFFF"/>
                </a:solidFill>
                <a:latin typeface="Calibri" pitchFamily="34" charset="0"/>
                <a:ea typeface="Calibri" pitchFamily="34" charset="-122"/>
                <a:cs typeface="Calibri" pitchFamily="34" charset="-120"/>
              </a:rPr>
              <a:t>Giới hạn: </a:t>
            </a:r>
            <a:r>
              <a:rPr lang="en-US" sz="1300" dirty="0">
                <a:solidFill>
                  <a:srgbClr val="C7DAE4"/>
                </a:solidFill>
                <a:latin typeface="Calibri" pitchFamily="34" charset="0"/>
                <a:ea typeface="Calibri" pitchFamily="34" charset="-122"/>
                <a:cs typeface="Calibri" pitchFamily="34" charset="-120"/>
              </a:rPr>
              <a:t>Không đi sâu triển khai hạ tầng điện toán đám mây.</a:t>
            </a:r>
            <a:endParaRPr lang="en-US" sz="1300" dirty="0"/>
          </a:p>
        </p:txBody>
      </p:sp>
      <p:sp>
        <p:nvSpPr>
          <p:cNvPr id="20" name="Text 1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1"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2</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2</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CƠ SỞ LÝ THUYẾT &amp; CÔNG NGHỆ</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Tổng quan bộ giao thức TCP/IP</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Cơ chế hoạt động của TCP Socket</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Kiến trúc xử lý đồng thời (Concurrency)</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2.1  ·  CƠ SỞ LÝ THUYẾT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Tổng quan về bộ giao thức TCP/IP</a:t>
            </a:r>
            <a:endParaRPr lang="en-US" sz="3000" dirty="0"/>
          </a:p>
        </p:txBody>
      </p:sp>
      <p:sp>
        <p:nvSpPr>
          <p:cNvPr id="4" name="Shape 2"/>
          <p:cNvSpPr/>
          <p:nvPr/>
        </p:nvSpPr>
        <p:spPr>
          <a:xfrm>
            <a:off x="640080" y="1783080"/>
            <a:ext cx="630936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914400" y="2057400"/>
            <a:ext cx="5760720" cy="1554480"/>
          </a:xfrm>
          <a:prstGeom prst="rect">
            <a:avLst/>
          </a:prstGeom>
          <a:noFill/>
          <a:ln/>
        </p:spPr>
        <p:txBody>
          <a:bodyPr wrap="square" lIns="0" tIns="0" rIns="0" bIns="0" rtlCol="0" anchor="ctr"/>
          <a:lstStyle/>
          <a:p>
            <a:pPr marL="0" indent="0">
              <a:lnSpc>
                <a:spcPct val="120000"/>
              </a:lnSpc>
              <a:buNone/>
            </a:pPr>
            <a:r>
              <a:rPr lang="en-US" sz="1450" dirty="0">
                <a:solidFill>
                  <a:srgbClr val="16232E"/>
                </a:solidFill>
                <a:latin typeface="Calibri" pitchFamily="34" charset="0"/>
                <a:ea typeface="Calibri" pitchFamily="34" charset="-122"/>
                <a:cs typeface="Calibri" pitchFamily="34" charset="-120"/>
              </a:rPr>
              <a:t>Trong mô hình OSI, TCP nằm ở tầng Giao vận (Transport Layer). TCP thiết lập một kênh truyền ảo (Virtual Circuit), đảm bảo gói tin đến đích đúng thứ tự và không bị mất mát thông qua cơ chế nhận diện biên lai (ACK).</a:t>
            </a:r>
            <a:endParaRPr lang="en-US" sz="1450" dirty="0"/>
          </a:p>
        </p:txBody>
      </p:sp>
      <p:sp>
        <p:nvSpPr>
          <p:cNvPr id="6" name="Text 4"/>
          <p:cNvSpPr/>
          <p:nvPr/>
        </p:nvSpPr>
        <p:spPr>
          <a:xfrm>
            <a:off x="914400" y="3611880"/>
            <a:ext cx="3657600" cy="32004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TCP vs UDP</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3977640"/>
          <a:ext cx="576072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Tiêu chí</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TCP</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UDP</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0A2A43"/>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Kết nối</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Có (hướng kết nối)</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Độ tin cậy</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Đảm bảo, có ACK</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 đảm bảo</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Thứ tự gói tin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Đúng thứ tự</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Không đảm bảo</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Tốc độ</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Chậm hơn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Nhanh hơn</a:t>
                      </a:r>
                      <a:endParaRPr lang="en-US" sz="1150" dirty="0">
                        <a:latin typeface="Calibri" charset="0"/>
                        <a:ea typeface="Calibri" charset="0"/>
                        <a:cs typeface="Calibri" charset="0"/>
                      </a:endParaRPr>
                    </a:p>
                  </a:txBody>
                  <a:tcPr anchor="ctr">
                    <a:lnL w="9525" cap="flat" cmpd="sng" algn="ctr">
                      <a:solidFill>
                        <a:srgbClr val="D9E6EC"/>
                      </a:solidFill>
                      <a:prstDash val="solid"/>
                      <a:round/>
                      <a:headEnd type="none" w="med" len="med"/>
                      <a:tailEnd type="none" w="med" len="med"/>
                    </a:lnL>
                    <a:lnR w="9525" cap="flat" cmpd="sng" algn="ctr">
                      <a:solidFill>
                        <a:srgbClr val="D9E6EC"/>
                      </a:solidFill>
                      <a:prstDash val="solid"/>
                      <a:round/>
                      <a:headEnd type="none" w="med" len="med"/>
                      <a:tailEnd type="none" w="med" len="med"/>
                    </a:lnR>
                    <a:lnT w="9525" cap="flat" cmpd="sng" algn="ctr">
                      <a:solidFill>
                        <a:srgbClr val="D9E6EC"/>
                      </a:solidFill>
                      <a:prstDash val="solid"/>
                      <a:round/>
                      <a:headEnd type="none" w="med" len="med"/>
                      <a:tailEnd type="none" w="med" len="med"/>
                    </a:lnT>
                    <a:lnB w="9525" cap="flat" cmpd="sng" algn="ctr">
                      <a:solidFill>
                        <a:srgbClr val="D9E6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5"/>
          <p:cNvSpPr/>
          <p:nvPr/>
        </p:nvSpPr>
        <p:spPr>
          <a:xfrm>
            <a:off x="7178040" y="1783080"/>
            <a:ext cx="4389120" cy="4160520"/>
          </a:xfrm>
          <a:prstGeom prst="roundRect">
            <a:avLst>
              <a:gd name="adj" fmla="val 1978"/>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9" name="Shape 6"/>
          <p:cNvSpPr/>
          <p:nvPr/>
        </p:nvSpPr>
        <p:spPr>
          <a:xfrm>
            <a:off x="7498080" y="2103120"/>
            <a:ext cx="822960" cy="822960"/>
          </a:xfrm>
          <a:prstGeom prst="ellipse">
            <a:avLst/>
          </a:prstGeom>
          <a:solidFill>
            <a:srgbClr val="0A2A43"/>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7712050" y="2317090"/>
            <a:ext cx="395021" cy="395021"/>
          </a:xfrm>
          <a:prstGeom prst="rect">
            <a:avLst/>
          </a:prstGeom>
        </p:spPr>
      </p:pic>
      <p:sp>
        <p:nvSpPr>
          <p:cNvPr id="11" name="Text 7"/>
          <p:cNvSpPr/>
          <p:nvPr/>
        </p:nvSpPr>
        <p:spPr>
          <a:xfrm>
            <a:off x="7498080" y="3063240"/>
            <a:ext cx="37490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Transport Layer</a:t>
            </a:r>
            <a:endParaRPr lang="en-US" sz="1600" dirty="0"/>
          </a:p>
        </p:txBody>
      </p:sp>
      <p:sp>
        <p:nvSpPr>
          <p:cNvPr id="12" name="Text 8"/>
          <p:cNvSpPr/>
          <p:nvPr/>
        </p:nvSpPr>
        <p:spPr>
          <a:xfrm>
            <a:off x="7498080" y="3520440"/>
            <a:ext cx="3749040" cy="1463040"/>
          </a:xfrm>
          <a:prstGeom prst="rect">
            <a:avLst/>
          </a:prstGeom>
          <a:noFill/>
          <a:ln/>
        </p:spPr>
        <p:txBody>
          <a:bodyPr wrap="square" lIns="0" tIns="0" rIns="0" bIns="0" rtlCol="0" anchor="ctr"/>
          <a:lstStyle/>
          <a:p>
            <a:pPr marL="0" indent="0">
              <a:lnSpc>
                <a:spcPct val="120000"/>
              </a:lnSpc>
              <a:buNone/>
            </a:pPr>
            <a:r>
              <a:rPr lang="en-US" sz="1250" dirty="0">
                <a:solidFill>
                  <a:srgbClr val="C7DAE4"/>
                </a:solidFill>
                <a:latin typeface="Calibri" pitchFamily="34" charset="0"/>
                <a:ea typeface="Calibri" pitchFamily="34" charset="-122"/>
                <a:cs typeface="Calibri" pitchFamily="34" charset="-120"/>
              </a:rPr>
              <a:t>TCP đảm bảo dữ liệu được truyền tin cậy giữa các tiến trình, nằm ngay trên tầng IP trong mô hình OSI/TCP-IP.</a:t>
            </a:r>
            <a:endParaRPr lang="en-US" sz="1250" dirty="0"/>
          </a:p>
        </p:txBody>
      </p:sp>
      <p:sp>
        <p:nvSpPr>
          <p:cNvPr id="13" name="Text 9"/>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4" name="Text 1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2.2  ·  CƠ CHẾ HOẠT ĐỘNG TCP SOCKET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Bắt tay 3 bước (Three-way Handshake)</a:t>
            </a:r>
            <a:endParaRPr lang="en-US" sz="3000" dirty="0"/>
          </a:p>
        </p:txBody>
      </p:sp>
      <p:sp>
        <p:nvSpPr>
          <p:cNvPr id="4" name="Shape 2"/>
          <p:cNvSpPr/>
          <p:nvPr/>
        </p:nvSpPr>
        <p:spPr>
          <a:xfrm>
            <a:off x="640080" y="1965960"/>
            <a:ext cx="3429000" cy="3063240"/>
          </a:xfrm>
          <a:prstGeom prst="roundRect">
            <a:avLst>
              <a:gd name="adj" fmla="val 2687"/>
            </a:avLst>
          </a:prstGeom>
          <a:solidFill>
            <a:srgbClr val="F3F8FA"/>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868680" y="2148840"/>
            <a:ext cx="914400" cy="822960"/>
          </a:xfrm>
          <a:prstGeom prst="rect">
            <a:avLst/>
          </a:prstGeom>
          <a:noFill/>
          <a:ln/>
        </p:spPr>
        <p:txBody>
          <a:bodyPr wrap="square" lIns="0" tIns="0" rIns="0" bIns="0" rtlCol="0" anchor="ctr"/>
          <a:lstStyle/>
          <a:p>
            <a:pPr marL="0" indent="0">
              <a:buNone/>
            </a:pPr>
            <a:r>
              <a:rPr lang="en-US" sz="4600" b="1" dirty="0">
                <a:solidFill>
                  <a:srgbClr val="D3E4EA"/>
                </a:solidFill>
                <a:latin typeface="Arial" pitchFamily="34" charset="0"/>
                <a:ea typeface="Arial" pitchFamily="34" charset="-122"/>
                <a:cs typeface="Arial" pitchFamily="34" charset="-120"/>
              </a:rPr>
              <a:t>1</a:t>
            </a:r>
            <a:endParaRPr lang="en-US" sz="4600" dirty="0"/>
          </a:p>
        </p:txBody>
      </p:sp>
      <p:sp>
        <p:nvSpPr>
          <p:cNvPr id="6" name="Text 4"/>
          <p:cNvSpPr/>
          <p:nvPr/>
        </p:nvSpPr>
        <p:spPr>
          <a:xfrm>
            <a:off x="914400" y="3017520"/>
            <a:ext cx="2880360" cy="457200"/>
          </a:xfrm>
          <a:prstGeom prst="rect">
            <a:avLst/>
          </a:prstGeom>
          <a:noFill/>
          <a:ln/>
        </p:spPr>
        <p:txBody>
          <a:bodyPr wrap="square" lIns="0" tIns="0" rIns="0" bIns="0" rtlCol="0" anchor="ctr"/>
          <a:lstStyle/>
          <a:p>
            <a:pPr marL="0" indent="0">
              <a:buNone/>
            </a:pPr>
            <a:r>
              <a:rPr lang="en-US" sz="2000" b="1" dirty="0">
                <a:solidFill>
                  <a:srgbClr val="16232E"/>
                </a:solidFill>
                <a:latin typeface="Arial" pitchFamily="34" charset="0"/>
                <a:ea typeface="Arial" pitchFamily="34" charset="-122"/>
                <a:cs typeface="Arial" pitchFamily="34" charset="-120"/>
              </a:rPr>
              <a:t>SYN</a:t>
            </a:r>
            <a:endParaRPr lang="en-US" sz="2000" dirty="0"/>
          </a:p>
        </p:txBody>
      </p:sp>
      <p:sp>
        <p:nvSpPr>
          <p:cNvPr id="7" name="Text 5"/>
          <p:cNvSpPr/>
          <p:nvPr/>
        </p:nvSpPr>
        <p:spPr>
          <a:xfrm>
            <a:off x="91440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Client gửi cờ SYN (Synchronize) tới Server, yêu cầu kết nối.</a:t>
            </a:r>
            <a:endParaRPr lang="en-US" sz="1300" dirty="0"/>
          </a:p>
        </p:txBody>
      </p:sp>
      <p:sp>
        <p:nvSpPr>
          <p:cNvPr id="8" name="Shape 6"/>
          <p:cNvSpPr/>
          <p:nvPr/>
        </p:nvSpPr>
        <p:spPr>
          <a:xfrm>
            <a:off x="4114800" y="3378708"/>
            <a:ext cx="237744" cy="237744"/>
          </a:xfrm>
          <a:prstGeom prst="ellipse">
            <a:avLst/>
          </a:prstGeom>
          <a:solidFill>
            <a:srgbClr val="3FE0C5"/>
          </a:solidFill>
          <a:ln/>
        </p:spPr>
        <p:txBody>
          <a:bodyPr/>
          <a:lstStyle/>
          <a:p>
            <a:endParaRPr lang="en-US"/>
          </a:p>
        </p:txBody>
      </p:sp>
      <p:sp>
        <p:nvSpPr>
          <p:cNvPr id="9" name="Shape 7"/>
          <p:cNvSpPr/>
          <p:nvPr/>
        </p:nvSpPr>
        <p:spPr>
          <a:xfrm>
            <a:off x="4389120" y="1965960"/>
            <a:ext cx="3429000" cy="3063240"/>
          </a:xfrm>
          <a:prstGeom prst="roundRect">
            <a:avLst>
              <a:gd name="adj" fmla="val 2687"/>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10" name="Text 8"/>
          <p:cNvSpPr/>
          <p:nvPr/>
        </p:nvSpPr>
        <p:spPr>
          <a:xfrm>
            <a:off x="4617720" y="2148840"/>
            <a:ext cx="914400" cy="822960"/>
          </a:xfrm>
          <a:prstGeom prst="rect">
            <a:avLst/>
          </a:prstGeom>
          <a:noFill/>
          <a:ln/>
        </p:spPr>
        <p:txBody>
          <a:bodyPr wrap="square" lIns="0" tIns="0" rIns="0" bIns="0" rtlCol="0" anchor="ctr"/>
          <a:lstStyle/>
          <a:p>
            <a:pPr marL="0" indent="0">
              <a:buNone/>
            </a:pPr>
            <a:r>
              <a:rPr lang="en-US" sz="4600" b="1" dirty="0">
                <a:solidFill>
                  <a:srgbClr val="3FE0C5"/>
                </a:solidFill>
                <a:latin typeface="Arial" pitchFamily="34" charset="0"/>
                <a:ea typeface="Arial" pitchFamily="34" charset="-122"/>
                <a:cs typeface="Arial" pitchFamily="34" charset="-120"/>
              </a:rPr>
              <a:t>2</a:t>
            </a:r>
            <a:endParaRPr lang="en-US" sz="4600" dirty="0"/>
          </a:p>
        </p:txBody>
      </p:sp>
      <p:sp>
        <p:nvSpPr>
          <p:cNvPr id="11" name="Text 9"/>
          <p:cNvSpPr/>
          <p:nvPr/>
        </p:nvSpPr>
        <p:spPr>
          <a:xfrm>
            <a:off x="4663440" y="3017520"/>
            <a:ext cx="288036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SYN-ACK</a:t>
            </a:r>
            <a:endParaRPr lang="en-US" sz="2000" dirty="0"/>
          </a:p>
        </p:txBody>
      </p:sp>
      <p:sp>
        <p:nvSpPr>
          <p:cNvPr id="12" name="Text 10"/>
          <p:cNvSpPr/>
          <p:nvPr/>
        </p:nvSpPr>
        <p:spPr>
          <a:xfrm>
            <a:off x="466344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C7DAE4"/>
                </a:solidFill>
                <a:latin typeface="Calibri" pitchFamily="34" charset="0"/>
                <a:ea typeface="Calibri" pitchFamily="34" charset="-122"/>
                <a:cs typeface="Calibri" pitchFamily="34" charset="-120"/>
              </a:rPr>
              <a:t>Server phản hồi bằng SYN-ACK, xác nhận đã nhận yêu cầu và đồng ý.</a:t>
            </a:r>
            <a:endParaRPr lang="en-US" sz="1300" dirty="0"/>
          </a:p>
        </p:txBody>
      </p:sp>
      <p:sp>
        <p:nvSpPr>
          <p:cNvPr id="13" name="Shape 11"/>
          <p:cNvSpPr/>
          <p:nvPr/>
        </p:nvSpPr>
        <p:spPr>
          <a:xfrm>
            <a:off x="7863840" y="3378708"/>
            <a:ext cx="237744" cy="237744"/>
          </a:xfrm>
          <a:prstGeom prst="ellipse">
            <a:avLst/>
          </a:prstGeom>
          <a:solidFill>
            <a:srgbClr val="3FE0C5"/>
          </a:solidFill>
          <a:ln/>
        </p:spPr>
        <p:txBody>
          <a:bodyPr/>
          <a:lstStyle/>
          <a:p>
            <a:endParaRPr lang="en-US"/>
          </a:p>
        </p:txBody>
      </p:sp>
      <p:sp>
        <p:nvSpPr>
          <p:cNvPr id="14" name="Shape 12"/>
          <p:cNvSpPr/>
          <p:nvPr/>
        </p:nvSpPr>
        <p:spPr>
          <a:xfrm>
            <a:off x="8138160" y="1965960"/>
            <a:ext cx="3429000" cy="3063240"/>
          </a:xfrm>
          <a:prstGeom prst="roundRect">
            <a:avLst>
              <a:gd name="adj" fmla="val 2687"/>
            </a:avLst>
          </a:prstGeom>
          <a:solidFill>
            <a:srgbClr val="F3F8FA"/>
          </a:solidFill>
          <a:ln/>
          <a:effectLst>
            <a:outerShdw blurRad="101600" dist="38100" dir="5400000" algn="bl" rotWithShape="0">
              <a:srgbClr val="0A2A43">
                <a:alpha val="10000"/>
              </a:srgbClr>
            </a:outerShdw>
          </a:effectLst>
        </p:spPr>
        <p:txBody>
          <a:bodyPr/>
          <a:lstStyle/>
          <a:p>
            <a:endParaRPr lang="en-US"/>
          </a:p>
        </p:txBody>
      </p:sp>
      <p:sp>
        <p:nvSpPr>
          <p:cNvPr id="15" name="Text 13"/>
          <p:cNvSpPr/>
          <p:nvPr/>
        </p:nvSpPr>
        <p:spPr>
          <a:xfrm>
            <a:off x="8366760" y="2148840"/>
            <a:ext cx="914400" cy="822960"/>
          </a:xfrm>
          <a:prstGeom prst="rect">
            <a:avLst/>
          </a:prstGeom>
          <a:noFill/>
          <a:ln/>
        </p:spPr>
        <p:txBody>
          <a:bodyPr wrap="square" lIns="0" tIns="0" rIns="0" bIns="0" rtlCol="0" anchor="ctr"/>
          <a:lstStyle/>
          <a:p>
            <a:pPr marL="0" indent="0">
              <a:buNone/>
            </a:pPr>
            <a:r>
              <a:rPr lang="en-US" sz="4600" b="1" dirty="0">
                <a:solidFill>
                  <a:srgbClr val="D3E4EA"/>
                </a:solidFill>
                <a:latin typeface="Arial" pitchFamily="34" charset="0"/>
                <a:ea typeface="Arial" pitchFamily="34" charset="-122"/>
                <a:cs typeface="Arial" pitchFamily="34" charset="-120"/>
              </a:rPr>
              <a:t>3</a:t>
            </a:r>
            <a:endParaRPr lang="en-US" sz="4600" dirty="0"/>
          </a:p>
        </p:txBody>
      </p:sp>
      <p:sp>
        <p:nvSpPr>
          <p:cNvPr id="16" name="Text 14"/>
          <p:cNvSpPr/>
          <p:nvPr/>
        </p:nvSpPr>
        <p:spPr>
          <a:xfrm>
            <a:off x="8412480" y="3017520"/>
            <a:ext cx="2880360" cy="457200"/>
          </a:xfrm>
          <a:prstGeom prst="rect">
            <a:avLst/>
          </a:prstGeom>
          <a:noFill/>
          <a:ln/>
        </p:spPr>
        <p:txBody>
          <a:bodyPr wrap="square" lIns="0" tIns="0" rIns="0" bIns="0" rtlCol="0" anchor="ctr"/>
          <a:lstStyle/>
          <a:p>
            <a:pPr marL="0" indent="0">
              <a:buNone/>
            </a:pPr>
            <a:r>
              <a:rPr lang="en-US" sz="2000" b="1" dirty="0">
                <a:solidFill>
                  <a:srgbClr val="16232E"/>
                </a:solidFill>
                <a:latin typeface="Arial" pitchFamily="34" charset="0"/>
                <a:ea typeface="Arial" pitchFamily="34" charset="-122"/>
                <a:cs typeface="Arial" pitchFamily="34" charset="-120"/>
              </a:rPr>
              <a:t>ACK</a:t>
            </a:r>
            <a:endParaRPr lang="en-US" sz="2000" dirty="0"/>
          </a:p>
        </p:txBody>
      </p:sp>
      <p:sp>
        <p:nvSpPr>
          <p:cNvPr id="17" name="Text 15"/>
          <p:cNvSpPr/>
          <p:nvPr/>
        </p:nvSpPr>
        <p:spPr>
          <a:xfrm>
            <a:off x="8412480" y="3520440"/>
            <a:ext cx="2880360" cy="1371600"/>
          </a:xfrm>
          <a:prstGeom prst="rect">
            <a:avLst/>
          </a:prstGeom>
          <a:noFill/>
          <a:ln/>
        </p:spPr>
        <p:txBody>
          <a:bodyPr wrap="square" lIns="0" tIns="0" rIns="0" bIns="0" rtlCol="0" anchor="ctr"/>
          <a:lstStyle/>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Client gửi lại ACK lần cuối. Socket được tạo, dữ liệu bắt đầu lưu thông.</a:t>
            </a:r>
            <a:endParaRPr lang="en-US" sz="1300" dirty="0"/>
          </a:p>
        </p:txBody>
      </p:sp>
      <p:sp>
        <p:nvSpPr>
          <p:cNvPr id="18" name="Text 16"/>
          <p:cNvSpPr/>
          <p:nvPr/>
        </p:nvSpPr>
        <p:spPr>
          <a:xfrm>
            <a:off x="640080" y="5257800"/>
            <a:ext cx="10241280" cy="411480"/>
          </a:xfrm>
          <a:prstGeom prst="rect">
            <a:avLst/>
          </a:prstGeom>
          <a:noFill/>
          <a:ln/>
        </p:spPr>
        <p:txBody>
          <a:bodyPr wrap="square" lIns="0" tIns="0" rIns="0" bIns="0" rtlCol="0" anchor="ctr"/>
          <a:lstStyle/>
          <a:p>
            <a:pPr marL="0" indent="0">
              <a:buNone/>
            </a:pPr>
            <a:r>
              <a:rPr lang="en-US" sz="1250" i="1" dirty="0">
                <a:solidFill>
                  <a:srgbClr val="5B7182"/>
                </a:solidFill>
                <a:latin typeface="Calibri" pitchFamily="34" charset="0"/>
                <a:ea typeface="Calibri" pitchFamily="34" charset="-122"/>
                <a:cs typeface="Calibri" pitchFamily="34" charset="-120"/>
              </a:rPr>
              <a:t>Sau bước 3, kết nối Socket TCP chính thức được thiết lập giữa Client và Server.</a:t>
            </a:r>
            <a:endParaRPr lang="en-US" sz="1250" dirty="0"/>
          </a:p>
        </p:txBody>
      </p:sp>
      <p:sp>
        <p:nvSpPr>
          <p:cNvPr id="19" name="Text 17"/>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2.2  ·  CƠ CHẾ HOẠT ĐỘNG TCP SOCKET</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Kiểm soát dòng &amp; kiểm soát tắc nghẽn</a:t>
            </a:r>
            <a:endParaRPr lang="en-US" sz="3000" dirty="0"/>
          </a:p>
        </p:txBody>
      </p:sp>
      <p:sp>
        <p:nvSpPr>
          <p:cNvPr id="4" name="Shape 2"/>
          <p:cNvSpPr/>
          <p:nvPr/>
        </p:nvSpPr>
        <p:spPr>
          <a:xfrm>
            <a:off x="640080" y="1828800"/>
            <a:ext cx="5212080" cy="4023360"/>
          </a:xfrm>
          <a:prstGeom prst="roundRect">
            <a:avLst>
              <a:gd name="adj" fmla="val 2045"/>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Shape 3"/>
          <p:cNvSpPr/>
          <p:nvPr/>
        </p:nvSpPr>
        <p:spPr>
          <a:xfrm>
            <a:off x="914400" y="2103120"/>
            <a:ext cx="685800" cy="685800"/>
          </a:xfrm>
          <a:prstGeom prst="ellipse">
            <a:avLst/>
          </a:prstGeom>
          <a:solidFill>
            <a:srgbClr val="D8F3E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2708" y="2281428"/>
            <a:ext cx="329184" cy="329184"/>
          </a:xfrm>
          <a:prstGeom prst="rect">
            <a:avLst/>
          </a:prstGeom>
        </p:spPr>
      </p:pic>
      <p:sp>
        <p:nvSpPr>
          <p:cNvPr id="7" name="Text 4"/>
          <p:cNvSpPr/>
          <p:nvPr/>
        </p:nvSpPr>
        <p:spPr>
          <a:xfrm>
            <a:off x="1737360" y="2148840"/>
            <a:ext cx="3931920" cy="54864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Flow Control – Cửa sổ trượt</a:t>
            </a:r>
            <a:endParaRPr lang="en-US" sz="1600" dirty="0"/>
          </a:p>
        </p:txBody>
      </p:sp>
      <p:sp>
        <p:nvSpPr>
          <p:cNvPr id="8" name="Text 5"/>
          <p:cNvSpPr/>
          <p:nvPr/>
        </p:nvSpPr>
        <p:spPr>
          <a:xfrm>
            <a:off x="914400" y="2971800"/>
            <a:ext cx="4663440" cy="1371600"/>
          </a:xfrm>
          <a:prstGeom prst="rect">
            <a:avLst/>
          </a:prstGeom>
          <a:noFill/>
          <a:ln/>
        </p:spPr>
        <p:txBody>
          <a:bodyPr wrap="square" lIns="0" tIns="0" rIns="0" bIns="0" rtlCol="0" anchor="ctr"/>
          <a:lstStyle/>
          <a:p>
            <a:pPr marL="0" indent="0">
              <a:lnSpc>
                <a:spcPct val="120000"/>
              </a:lnSpc>
              <a:buNone/>
            </a:pPr>
            <a:r>
              <a:rPr lang="en-US" sz="1350" dirty="0">
                <a:solidFill>
                  <a:srgbClr val="5B7182"/>
                </a:solidFill>
                <a:latin typeface="Calibri" pitchFamily="34" charset="0"/>
                <a:ea typeface="Calibri" pitchFamily="34" charset="-122"/>
                <a:cs typeface="Calibri" pitchFamily="34" charset="-120"/>
              </a:rPr>
              <a:t>TCP tích hợp thuật toán "Sliding Window" để điều chỉnh lượng dữ liệu gửi đi, đảm bảo bên nhận (Receiver) không bị quá tải.</a:t>
            </a:r>
            <a:endParaRPr lang="en-US" sz="1350" dirty="0"/>
          </a:p>
        </p:txBody>
      </p:sp>
      <p:sp>
        <p:nvSpPr>
          <p:cNvPr id="9" name="Shape 6"/>
          <p:cNvSpPr/>
          <p:nvPr/>
        </p:nvSpPr>
        <p:spPr>
          <a:xfrm>
            <a:off x="6080760" y="1828800"/>
            <a:ext cx="5486400" cy="4023360"/>
          </a:xfrm>
          <a:prstGeom prst="roundRect">
            <a:avLst>
              <a:gd name="adj" fmla="val 2045"/>
            </a:avLst>
          </a:prstGeom>
          <a:solidFill>
            <a:srgbClr val="0A2A43"/>
          </a:solidFill>
          <a:ln/>
          <a:effectLst>
            <a:outerShdw blurRad="101600" dist="38100" dir="5400000" algn="bl" rotWithShape="0">
              <a:srgbClr val="0A2A43">
                <a:alpha val="10000"/>
              </a:srgbClr>
            </a:outerShdw>
          </a:effectLst>
        </p:spPr>
        <p:txBody>
          <a:bodyPr/>
          <a:lstStyle/>
          <a:p>
            <a:endParaRPr lang="en-US"/>
          </a:p>
        </p:txBody>
      </p:sp>
      <p:sp>
        <p:nvSpPr>
          <p:cNvPr id="10" name="Shape 7"/>
          <p:cNvSpPr/>
          <p:nvPr/>
        </p:nvSpPr>
        <p:spPr>
          <a:xfrm>
            <a:off x="6355080" y="2103120"/>
            <a:ext cx="685800" cy="685800"/>
          </a:xfrm>
          <a:prstGeom prst="ellipse">
            <a:avLst/>
          </a:prstGeom>
          <a:solidFill>
            <a:srgbClr val="0F3D5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533388" y="2281428"/>
            <a:ext cx="329184" cy="329184"/>
          </a:xfrm>
          <a:prstGeom prst="rect">
            <a:avLst/>
          </a:prstGeom>
        </p:spPr>
      </p:pic>
      <p:sp>
        <p:nvSpPr>
          <p:cNvPr id="12" name="Text 8"/>
          <p:cNvSpPr/>
          <p:nvPr/>
        </p:nvSpPr>
        <p:spPr>
          <a:xfrm>
            <a:off x="7223760" y="2148840"/>
            <a:ext cx="4114800" cy="6400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Congestion Control – Kiểm soát tắc nghẽn</a:t>
            </a:r>
            <a:endParaRPr lang="en-US" sz="1600" dirty="0"/>
          </a:p>
        </p:txBody>
      </p:sp>
      <p:sp>
        <p:nvSpPr>
          <p:cNvPr id="13" name="Text 9"/>
          <p:cNvSpPr/>
          <p:nvPr/>
        </p:nvSpPr>
        <p:spPr>
          <a:xfrm>
            <a:off x="6355080" y="3017520"/>
            <a:ext cx="4937760" cy="1371600"/>
          </a:xfrm>
          <a:prstGeom prst="rect">
            <a:avLst/>
          </a:prstGeom>
          <a:noFill/>
          <a:ln/>
        </p:spPr>
        <p:txBody>
          <a:bodyPr wrap="square" lIns="0" tIns="0" rIns="0" bIns="0" rtlCol="0" anchor="ctr"/>
          <a:lstStyle/>
          <a:p>
            <a:pPr marL="0" indent="0">
              <a:lnSpc>
                <a:spcPct val="120000"/>
              </a:lnSpc>
              <a:buNone/>
            </a:pPr>
            <a:r>
              <a:rPr lang="en-US" sz="1350" dirty="0">
                <a:solidFill>
                  <a:srgbClr val="C7DAE4"/>
                </a:solidFill>
                <a:latin typeface="Calibri" pitchFamily="34" charset="0"/>
                <a:ea typeface="Calibri" pitchFamily="34" charset="-122"/>
                <a:cs typeface="Calibri" pitchFamily="34" charset="-120"/>
              </a:rPr>
              <a:t>TCP liên tục theo dõi băng thông mạng, tự động tăng/giảm tốc độ gửi để tránh tình trạng "kẹt xe" dữ liệu (Congestion).</a:t>
            </a:r>
            <a:endParaRPr lang="en-US" sz="1350" dirty="0"/>
          </a:p>
        </p:txBody>
      </p:sp>
      <p:sp>
        <p:nvSpPr>
          <p:cNvPr id="14" name="Text 10"/>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2.3  ·  KIẾN TRÚC XỬ LÝ ĐỒNG THỜI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Multi-threading vs Asynchronous I/O</a:t>
            </a:r>
            <a:endParaRPr lang="en-US" sz="3000" dirty="0"/>
          </a:p>
        </p:txBody>
      </p:sp>
      <p:sp>
        <p:nvSpPr>
          <p:cNvPr id="4" name="Text 2"/>
          <p:cNvSpPr/>
          <p:nvPr/>
        </p:nvSpPr>
        <p:spPr>
          <a:xfrm>
            <a:off x="640080" y="1737360"/>
            <a:ext cx="10789920" cy="502920"/>
          </a:xfrm>
          <a:prstGeom prst="rect">
            <a:avLst/>
          </a:prstGeom>
          <a:noFill/>
          <a:ln/>
        </p:spPr>
        <p:txBody>
          <a:bodyPr wrap="square" lIns="0" tIns="0" rIns="0" bIns="0" rtlCol="0" anchor="ctr"/>
          <a:lstStyle/>
          <a:p>
            <a:pPr marL="0" indent="0">
              <a:buNone/>
            </a:pPr>
            <a:r>
              <a:rPr lang="en-US" sz="1350" i="1" dirty="0">
                <a:solidFill>
                  <a:srgbClr val="5B7182"/>
                </a:solidFill>
                <a:latin typeface="Calibri" pitchFamily="34" charset="0"/>
                <a:ea typeface="Calibri" pitchFamily="34" charset="-122"/>
                <a:cs typeface="Calibri" pitchFamily="34" charset="-120"/>
              </a:rPr>
              <a:t>Bài toán: một Server có một Port duy nhất — làm sao lắng nghe và giao tiếp cùng lúc với hàng ngàn (N) Client mà không bị treo?</a:t>
            </a:r>
            <a:endParaRPr lang="en-US" sz="1350" dirty="0"/>
          </a:p>
        </p:txBody>
      </p:sp>
      <p:sp>
        <p:nvSpPr>
          <p:cNvPr id="5" name="Shape 3"/>
          <p:cNvSpPr/>
          <p:nvPr/>
        </p:nvSpPr>
        <p:spPr>
          <a:xfrm>
            <a:off x="640080" y="2377440"/>
            <a:ext cx="5257800" cy="3566160"/>
          </a:xfrm>
          <a:prstGeom prst="roundRect">
            <a:avLst>
              <a:gd name="adj" fmla="val 2308"/>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6" name="Text 4"/>
          <p:cNvSpPr/>
          <p:nvPr/>
        </p:nvSpPr>
        <p:spPr>
          <a:xfrm>
            <a:off x="914400" y="2578608"/>
            <a:ext cx="3657600" cy="320040"/>
          </a:xfrm>
          <a:prstGeom prst="rect">
            <a:avLst/>
          </a:prstGeom>
          <a:noFill/>
          <a:ln/>
        </p:spPr>
        <p:txBody>
          <a:bodyPr wrap="square" lIns="0" tIns="0" rIns="0" bIns="0" rtlCol="0" anchor="ctr"/>
          <a:lstStyle/>
          <a:p>
            <a:pPr marL="0" indent="0">
              <a:buNone/>
            </a:pPr>
            <a:r>
              <a:rPr lang="en-US" sz="1200" b="1" kern="0" spc="100" dirty="0">
                <a:solidFill>
                  <a:srgbClr val="3FE0C5"/>
                </a:solidFill>
                <a:latin typeface="Calibri" pitchFamily="34" charset="0"/>
                <a:ea typeface="Calibri" pitchFamily="34" charset="-122"/>
                <a:cs typeface="Calibri" pitchFamily="34" charset="-120"/>
              </a:rPr>
              <a:t>✔  GIẢI PHÁP ÁP DỤNG</a:t>
            </a:r>
            <a:endParaRPr lang="en-US" sz="1200" dirty="0"/>
          </a:p>
        </p:txBody>
      </p:sp>
      <p:sp>
        <p:nvSpPr>
          <p:cNvPr id="7" name="Text 5"/>
          <p:cNvSpPr/>
          <p:nvPr/>
        </p:nvSpPr>
        <p:spPr>
          <a:xfrm>
            <a:off x="914400" y="2926080"/>
            <a:ext cx="4663440" cy="45720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Thread-per-Connection</a:t>
            </a:r>
            <a:endParaRPr lang="en-US" sz="1900" dirty="0"/>
          </a:p>
        </p:txBody>
      </p:sp>
      <p:sp>
        <p:nvSpPr>
          <p:cNvPr id="8" name="Text 6"/>
          <p:cNvSpPr/>
          <p:nvPr/>
        </p:nvSpPr>
        <p:spPr>
          <a:xfrm>
            <a:off x="914400" y="3520440"/>
            <a:ext cx="466344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D7E7EF"/>
                </a:solidFill>
                <a:latin typeface="Calibri" pitchFamily="34" charset="0"/>
                <a:ea typeface="Calibri" pitchFamily="34" charset="-122"/>
                <a:cs typeface="Calibri" pitchFamily="34" charset="-120"/>
              </a:rPr>
              <a:t>Mỗi khi accept() bắt được 1 Client, Server sinh ra 1 Thread mới xử lý riêng Socket đó.</a:t>
            </a:r>
            <a:endParaRPr lang="en-US" sz="1300" dirty="0"/>
          </a:p>
          <a:p>
            <a:pPr marL="342900" indent="-342900">
              <a:lnSpc>
                <a:spcPct val="115000"/>
              </a:lnSpc>
              <a:buSzPct val="100000"/>
              <a:buChar char="•"/>
            </a:pPr>
            <a:r>
              <a:rPr lang="en-US" sz="1300" dirty="0">
                <a:solidFill>
                  <a:srgbClr val="D7E7EF"/>
                </a:solidFill>
                <a:latin typeface="Calibri" pitchFamily="34" charset="0"/>
                <a:ea typeface="Calibri" pitchFamily="34" charset="-122"/>
                <a:cs typeface="Calibri" pitchFamily="34" charset="-120"/>
              </a:rPr>
              <a:t>Ưu điểm: code đơn giản, logic tách biệt hoàn toàn, xử lý tính toán nặng tốt.</a:t>
            </a:r>
            <a:endParaRPr lang="en-US" sz="1300" dirty="0"/>
          </a:p>
        </p:txBody>
      </p:sp>
      <p:sp>
        <p:nvSpPr>
          <p:cNvPr id="9" name="Shape 7"/>
          <p:cNvSpPr/>
          <p:nvPr/>
        </p:nvSpPr>
        <p:spPr>
          <a:xfrm>
            <a:off x="6126480" y="2377440"/>
            <a:ext cx="5440680" cy="3566160"/>
          </a:xfrm>
          <a:prstGeom prst="roundRect">
            <a:avLst>
              <a:gd name="adj" fmla="val 230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0" name="Text 8"/>
          <p:cNvSpPr/>
          <p:nvPr/>
        </p:nvSpPr>
        <p:spPr>
          <a:xfrm>
            <a:off x="6400800" y="2578608"/>
            <a:ext cx="3657600" cy="320040"/>
          </a:xfrm>
          <a:prstGeom prst="rect">
            <a:avLst/>
          </a:prstGeom>
          <a:noFill/>
          <a:ln/>
        </p:spPr>
        <p:txBody>
          <a:bodyPr wrap="square" lIns="0" tIns="0" rIns="0" bIns="0" rtlCol="0" anchor="ctr"/>
          <a:lstStyle/>
          <a:p>
            <a:pPr marL="0" indent="0">
              <a:buNone/>
            </a:pPr>
            <a:r>
              <a:rPr lang="en-US" sz="1200" b="1" kern="0" spc="100" dirty="0">
                <a:solidFill>
                  <a:srgbClr val="0E9A85"/>
                </a:solidFill>
                <a:latin typeface="Calibri" pitchFamily="34" charset="0"/>
                <a:ea typeface="Calibri" pitchFamily="34" charset="-122"/>
                <a:cs typeface="Calibri" pitchFamily="34" charset="-120"/>
              </a:rPr>
              <a:t>SO SÁNH</a:t>
            </a:r>
            <a:endParaRPr lang="en-US" sz="1200" dirty="0"/>
          </a:p>
        </p:txBody>
      </p:sp>
      <p:sp>
        <p:nvSpPr>
          <p:cNvPr id="11" name="Text 9"/>
          <p:cNvSpPr/>
          <p:nvPr/>
        </p:nvSpPr>
        <p:spPr>
          <a:xfrm>
            <a:off x="6400800" y="2926080"/>
            <a:ext cx="5029200" cy="457200"/>
          </a:xfrm>
          <a:prstGeom prst="rect">
            <a:avLst/>
          </a:prstGeom>
          <a:noFill/>
          <a:ln/>
        </p:spPr>
        <p:txBody>
          <a:bodyPr wrap="square" lIns="0" tIns="0" rIns="0" bIns="0" rtlCol="0" anchor="ctr"/>
          <a:lstStyle/>
          <a:p>
            <a:pPr marL="0" indent="0">
              <a:buNone/>
            </a:pPr>
            <a:r>
              <a:rPr lang="en-US" sz="1900" b="1" dirty="0">
                <a:solidFill>
                  <a:srgbClr val="16232E"/>
                </a:solidFill>
                <a:latin typeface="Arial" pitchFamily="34" charset="0"/>
                <a:ea typeface="Arial" pitchFamily="34" charset="-122"/>
                <a:cs typeface="Arial" pitchFamily="34" charset="-120"/>
              </a:rPr>
              <a:t>Asynchronous I/O (Event Loop)</a:t>
            </a:r>
            <a:endParaRPr lang="en-US" sz="1900" dirty="0"/>
          </a:p>
        </p:txBody>
      </p:sp>
      <p:sp>
        <p:nvSpPr>
          <p:cNvPr id="12" name="Text 10"/>
          <p:cNvSpPr/>
          <p:nvPr/>
        </p:nvSpPr>
        <p:spPr>
          <a:xfrm>
            <a:off x="6400800" y="3520440"/>
            <a:ext cx="5074920" cy="228600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B7182"/>
                </a:solidFill>
                <a:latin typeface="Calibri" pitchFamily="34" charset="0"/>
                <a:ea typeface="Calibri" pitchFamily="34" charset="-122"/>
                <a:cs typeface="Calibri" pitchFamily="34" charset="-120"/>
              </a:rPr>
              <a:t>Toàn bộ Server chạy trên 1 luồng duy nhất, dùng non-blocking I/O (Node.js, asyncio).</a:t>
            </a:r>
            <a:endParaRPr lang="en-US" sz="1300" dirty="0"/>
          </a:p>
          <a:p>
            <a:pPr marL="0" indent="0">
              <a:lnSpc>
                <a:spcPct val="115000"/>
              </a:lnSpc>
              <a:buNone/>
            </a:pPr>
            <a:r>
              <a:rPr lang="en-US" sz="1300" dirty="0">
                <a:solidFill>
                  <a:srgbClr val="5B7182"/>
                </a:solidFill>
                <a:latin typeface="Calibri" pitchFamily="34" charset="0"/>
                <a:ea typeface="Calibri" pitchFamily="34" charset="-122"/>
                <a:cs typeface="Calibri" pitchFamily="34" charset="-120"/>
              </a:rPr>
              <a:t>Tiết kiệm RAM hơn với hàng chục ngàn kết nối (C10K), nhưng dễ nghẽn nếu có tác vụ đồng bộ nặng.</a:t>
            </a:r>
            <a:endParaRPr lang="en-US" sz="1300" dirty="0"/>
          </a:p>
        </p:txBody>
      </p:sp>
      <p:sp>
        <p:nvSpPr>
          <p:cNvPr id="13" name="Text 11"/>
          <p:cNvSpPr/>
          <p:nvPr/>
        </p:nvSpPr>
        <p:spPr>
          <a:xfrm>
            <a:off x="640080" y="6080760"/>
            <a:ext cx="10881360" cy="365760"/>
          </a:xfrm>
          <a:prstGeom prst="rect">
            <a:avLst/>
          </a:prstGeom>
          <a:noFill/>
          <a:ln/>
        </p:spPr>
        <p:txBody>
          <a:bodyPr wrap="square" lIns="0" tIns="0" rIns="0" bIns="0" rtlCol="0" anchor="ctr"/>
          <a:lstStyle/>
          <a:p>
            <a:pPr marL="0" indent="0">
              <a:buNone/>
            </a:pPr>
            <a:r>
              <a:rPr lang="en-US" sz="1300" b="1" dirty="0">
                <a:solidFill>
                  <a:srgbClr val="0E9A85"/>
                </a:solidFill>
                <a:latin typeface="Calibri" pitchFamily="34" charset="0"/>
                <a:ea typeface="Calibri" pitchFamily="34" charset="-122"/>
                <a:cs typeface="Calibri" pitchFamily="34" charset="-120"/>
              </a:rPr>
              <a:t>→ Với quy mô đồ án, Multi-threading là giải pháp an toàn và hiệu quả nhất.</a:t>
            </a:r>
            <a:endParaRPr lang="en-US" sz="1300" dirty="0"/>
          </a:p>
        </p:txBody>
      </p:sp>
      <p:sp>
        <p:nvSpPr>
          <p:cNvPr id="14" name="Text 1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5"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3</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3</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THIẾT KẾ KIẾN TRÚC HỆ THỐNG</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Mô hình kiến trúc Client – Server</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Thiết kế giao thức thông điệp (Message Protocol)</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Biểu đồ tuần tự (Sequence Diagram)</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3.1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Mô hình kiến trúc Client – Server (Hub)</a:t>
            </a:r>
            <a:endParaRPr lang="en-US" sz="3000" dirty="0"/>
          </a:p>
        </p:txBody>
      </p:sp>
      <p:sp>
        <p:nvSpPr>
          <p:cNvPr id="4" name="Shape 2"/>
          <p:cNvSpPr/>
          <p:nvPr/>
        </p:nvSpPr>
        <p:spPr>
          <a:xfrm>
            <a:off x="640080" y="1783080"/>
            <a:ext cx="598932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914400" y="2103120"/>
            <a:ext cx="5486400" cy="3657600"/>
          </a:xfrm>
          <a:prstGeom prst="rect">
            <a:avLst/>
          </a:prstGeom>
          <a:noFill/>
          <a:ln/>
        </p:spPr>
        <p:txBody>
          <a:bodyPr wrap="square" lIns="0" tIns="0" rIns="0" bIns="0" rtlCol="0" anchor="ctr"/>
          <a:lstStyle/>
          <a:p>
            <a:pPr marL="0" indent="0">
              <a:lnSpc>
                <a:spcPct val="120000"/>
              </a:lnSpc>
              <a:spcAft>
                <a:spcPts val="1000"/>
              </a:spcAft>
              <a:buNone/>
            </a:pPr>
            <a:r>
              <a:rPr lang="en-US" sz="1400" b="1" dirty="0">
                <a:solidFill>
                  <a:srgbClr val="16232E"/>
                </a:solidFill>
                <a:latin typeface="Calibri" pitchFamily="34" charset="0"/>
                <a:ea typeface="Calibri" pitchFamily="34" charset="-122"/>
                <a:cs typeface="Calibri" pitchFamily="34" charset="-120"/>
              </a:rPr>
              <a:t>Server đóng vai trò "Hub" trung tâm phân phối (Router).</a:t>
            </a:r>
            <a:endParaRPr lang="en-US" sz="1400" dirty="0"/>
          </a:p>
          <a:p>
            <a:pPr marL="342900" indent="-342900">
              <a:lnSpc>
                <a:spcPct val="120000"/>
              </a:lnSpc>
              <a:spcAft>
                <a:spcPts val="1000"/>
              </a:spcAft>
              <a:buSzPct val="100000"/>
              <a:buChar char="•"/>
            </a:pPr>
            <a:r>
              <a:rPr lang="en-US" sz="1400" dirty="0">
                <a:solidFill>
                  <a:srgbClr val="16232E"/>
                </a:solidFill>
                <a:latin typeface="Calibri" pitchFamily="34" charset="0"/>
                <a:ea typeface="Calibri" pitchFamily="34" charset="-122"/>
                <a:cs typeface="Calibri" pitchFamily="34" charset="-120"/>
              </a:rPr>
              <a:t>Không có Client nào nói chuyện trực tiếp với nhau (không Peer-to-Peer).</a:t>
            </a:r>
            <a:endParaRPr lang="en-US" sz="1400" dirty="0"/>
          </a:p>
          <a:p>
            <a:pPr marL="342900" indent="-342900">
              <a:lnSpc>
                <a:spcPct val="120000"/>
              </a:lnSpc>
              <a:spcAft>
                <a:spcPts val="1000"/>
              </a:spcAft>
              <a:buSzPct val="100000"/>
              <a:buChar char="•"/>
            </a:pPr>
            <a:r>
              <a:rPr lang="en-US" sz="1400" dirty="0">
                <a:solidFill>
                  <a:srgbClr val="16232E"/>
                </a:solidFill>
                <a:latin typeface="Calibri" pitchFamily="34" charset="0"/>
                <a:ea typeface="Calibri" pitchFamily="34" charset="-122"/>
                <a:cs typeface="Calibri" pitchFamily="34" charset="-120"/>
              </a:rPr>
              <a:t>Toàn bộ tin nhắn gửi lên Server; Server bóc tách gói tin và quyết định chuyển tiếp.</a:t>
            </a:r>
            <a:endParaRPr lang="en-US" sz="1400" dirty="0"/>
          </a:p>
          <a:p>
            <a:pPr marL="342900" indent="-342900">
              <a:lnSpc>
                <a:spcPct val="120000"/>
              </a:lnSpc>
              <a:buSzPct val="100000"/>
              <a:buChar char="•"/>
            </a:pPr>
            <a:r>
              <a:rPr lang="en-US" sz="1400" dirty="0">
                <a:solidFill>
                  <a:srgbClr val="16232E"/>
                </a:solidFill>
                <a:latin typeface="Calibri" pitchFamily="34" charset="0"/>
                <a:ea typeface="Calibri" pitchFamily="34" charset="-122"/>
                <a:cs typeface="Calibri" pitchFamily="34" charset="-120"/>
              </a:rPr>
              <a:t>Unicast: chuyển tới 1 Client đích  •  Broadcast: chuyển tới toàn bộ Client.</a:t>
            </a:r>
            <a:endParaRPr lang="en-US" sz="1400" dirty="0"/>
          </a:p>
        </p:txBody>
      </p:sp>
      <p:sp>
        <p:nvSpPr>
          <p:cNvPr id="6" name="Shape 4"/>
          <p:cNvSpPr/>
          <p:nvPr/>
        </p:nvSpPr>
        <p:spPr>
          <a:xfrm>
            <a:off x="6903720" y="1783080"/>
            <a:ext cx="4645152"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pic>
        <p:nvPicPr>
          <p:cNvPr id="7" name="Image 0" descr="/home/claude/proj/images/img3.png"/>
          <p:cNvPicPr>
            <a:picLocks noChangeAspect="1"/>
          </p:cNvPicPr>
          <p:nvPr/>
        </p:nvPicPr>
        <p:blipFill>
          <a:blip r:embed="rId3"/>
          <a:stretch>
            <a:fillRect/>
          </a:stretch>
        </p:blipFill>
        <p:spPr>
          <a:xfrm>
            <a:off x="7146036" y="3002461"/>
            <a:ext cx="4160520" cy="1721757"/>
          </a:xfrm>
          <a:prstGeom prst="rect">
            <a:avLst/>
          </a:prstGeom>
        </p:spPr>
      </p:pic>
      <p:sp>
        <p:nvSpPr>
          <p:cNvPr id="8" name="Text 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3.2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Thiết kế giao thức thông điệp (Message Protocol)</a:t>
            </a:r>
            <a:endParaRPr lang="en-US" sz="3000" dirty="0"/>
          </a:p>
        </p:txBody>
      </p:sp>
      <p:sp>
        <p:nvSpPr>
          <p:cNvPr id="4" name="Text 2"/>
          <p:cNvSpPr/>
          <p:nvPr/>
        </p:nvSpPr>
        <p:spPr>
          <a:xfrm>
            <a:off x="640080" y="1691640"/>
            <a:ext cx="10789920" cy="365760"/>
          </a:xfrm>
          <a:prstGeom prst="rect">
            <a:avLst/>
          </a:prstGeom>
          <a:noFill/>
          <a:ln/>
        </p:spPr>
        <p:txBody>
          <a:bodyPr wrap="square" lIns="0" tIns="0" rIns="0" bIns="0" rtlCol="0" anchor="ctr"/>
          <a:lstStyle/>
          <a:p>
            <a:pPr marL="0" indent="0">
              <a:buNone/>
            </a:pPr>
            <a:r>
              <a:rPr lang="en-US" sz="1350" dirty="0">
                <a:solidFill>
                  <a:srgbClr val="5B7182"/>
                </a:solidFill>
                <a:latin typeface="Calibri" pitchFamily="34" charset="0"/>
                <a:ea typeface="Calibri" pitchFamily="34" charset="-122"/>
                <a:cs typeface="Calibri" pitchFamily="34" charset="-120"/>
              </a:rPr>
              <a:t>Giải quyết bài toán TCP dính gói (Sticky Packets) bằng kỹ thuật Binary Header Length-Prefixed:</a:t>
            </a:r>
            <a:endParaRPr lang="en-US" sz="1350" dirty="0"/>
          </a:p>
        </p:txBody>
      </p:sp>
      <p:sp>
        <p:nvSpPr>
          <p:cNvPr id="5" name="Shape 3"/>
          <p:cNvSpPr/>
          <p:nvPr/>
        </p:nvSpPr>
        <p:spPr>
          <a:xfrm>
            <a:off x="640080" y="2240280"/>
            <a:ext cx="8138160" cy="1920240"/>
          </a:xfrm>
          <a:prstGeom prst="roundRect">
            <a:avLst>
              <a:gd name="adj" fmla="val 4286"/>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6" name="Shape 4"/>
          <p:cNvSpPr/>
          <p:nvPr/>
        </p:nvSpPr>
        <p:spPr>
          <a:xfrm>
            <a:off x="1005840" y="2880360"/>
            <a:ext cx="1737360" cy="914400"/>
          </a:xfrm>
          <a:prstGeom prst="roundRect">
            <a:avLst>
              <a:gd name="adj" fmla="val 8000"/>
            </a:avLst>
          </a:prstGeom>
          <a:solidFill>
            <a:srgbClr val="0A2A43"/>
          </a:solidFill>
          <a:ln/>
        </p:spPr>
        <p:txBody>
          <a:bodyPr/>
          <a:lstStyle/>
          <a:p>
            <a:endParaRPr lang="en-US"/>
          </a:p>
        </p:txBody>
      </p:sp>
      <p:sp>
        <p:nvSpPr>
          <p:cNvPr id="7" name="Text 5"/>
          <p:cNvSpPr/>
          <p:nvPr/>
        </p:nvSpPr>
        <p:spPr>
          <a:xfrm>
            <a:off x="1005840" y="3035808"/>
            <a:ext cx="1737360" cy="274320"/>
          </a:xfrm>
          <a:prstGeom prst="rect">
            <a:avLst/>
          </a:prstGeom>
          <a:noFill/>
          <a:ln/>
        </p:spPr>
        <p:txBody>
          <a:bodyPr wrap="square" lIns="0" tIns="0" rIns="0" bIns="0" rtlCol="0" anchor="ctr"/>
          <a:lstStyle/>
          <a:p>
            <a:pPr marL="0" indent="0" algn="ctr">
              <a:buNone/>
            </a:pPr>
            <a:r>
              <a:rPr lang="en-US" sz="1000" b="1" dirty="0">
                <a:solidFill>
                  <a:srgbClr val="3FE0C5"/>
                </a:solidFill>
                <a:latin typeface="Calibri" pitchFamily="34" charset="0"/>
                <a:ea typeface="Calibri" pitchFamily="34" charset="-122"/>
                <a:cs typeface="Calibri" pitchFamily="34" charset="-120"/>
              </a:rPr>
              <a:t>4 BYTES</a:t>
            </a:r>
            <a:endParaRPr lang="en-US" sz="1000" dirty="0"/>
          </a:p>
        </p:txBody>
      </p:sp>
      <p:sp>
        <p:nvSpPr>
          <p:cNvPr id="8" name="Text 6"/>
          <p:cNvSpPr/>
          <p:nvPr/>
        </p:nvSpPr>
        <p:spPr>
          <a:xfrm>
            <a:off x="1005840" y="3273552"/>
            <a:ext cx="17373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Header</a:t>
            </a:r>
            <a:endParaRPr lang="en-US" sz="1200" dirty="0"/>
          </a:p>
          <a:p>
            <a:pPr marL="0" indent="0" algn="ctr">
              <a:buNone/>
            </a:pPr>
            <a:r>
              <a:rPr lang="en-US" sz="1200" b="1" dirty="0">
                <a:solidFill>
                  <a:srgbClr val="FFFFFF"/>
                </a:solidFill>
                <a:latin typeface="Courier New" pitchFamily="34" charset="0"/>
                <a:ea typeface="Courier New" pitchFamily="34" charset="-122"/>
                <a:cs typeface="Courier New" pitchFamily="34" charset="-120"/>
              </a:rPr>
              <a:t>(độ dài)</a:t>
            </a:r>
            <a:endParaRPr lang="en-US" sz="1200" dirty="0"/>
          </a:p>
        </p:txBody>
      </p:sp>
      <p:sp>
        <p:nvSpPr>
          <p:cNvPr id="9" name="Text 7"/>
          <p:cNvSpPr/>
          <p:nvPr/>
        </p:nvSpPr>
        <p:spPr>
          <a:xfrm>
            <a:off x="2834640" y="3108960"/>
            <a:ext cx="365760" cy="548640"/>
          </a:xfrm>
          <a:prstGeom prst="rect">
            <a:avLst/>
          </a:prstGeom>
          <a:noFill/>
          <a:ln/>
        </p:spPr>
        <p:txBody>
          <a:bodyPr wrap="square" lIns="0" tIns="0" rIns="0" bIns="0" rtlCol="0" anchor="ctr"/>
          <a:lstStyle/>
          <a:p>
            <a:pPr marL="0" indent="0" algn="ctr">
              <a:buNone/>
            </a:pPr>
            <a:r>
              <a:rPr lang="en-US" sz="2600" b="1" dirty="0">
                <a:solidFill>
                  <a:srgbClr val="5B7182"/>
                </a:solidFill>
                <a:latin typeface="Arial" pitchFamily="34" charset="0"/>
                <a:ea typeface="Arial" pitchFamily="34" charset="-122"/>
                <a:cs typeface="Arial" pitchFamily="34" charset="-120"/>
              </a:rPr>
              <a:t>+</a:t>
            </a:r>
            <a:endParaRPr lang="en-US" sz="2600" dirty="0"/>
          </a:p>
        </p:txBody>
      </p:sp>
      <p:sp>
        <p:nvSpPr>
          <p:cNvPr id="10" name="Shape 8"/>
          <p:cNvSpPr/>
          <p:nvPr/>
        </p:nvSpPr>
        <p:spPr>
          <a:xfrm>
            <a:off x="3291840" y="2880360"/>
            <a:ext cx="4480560" cy="914400"/>
          </a:xfrm>
          <a:prstGeom prst="roundRect">
            <a:avLst>
              <a:gd name="adj" fmla="val 8000"/>
            </a:avLst>
          </a:prstGeom>
          <a:solidFill>
            <a:srgbClr val="D8F3EE"/>
          </a:solidFill>
          <a:ln/>
        </p:spPr>
        <p:txBody>
          <a:bodyPr/>
          <a:lstStyle/>
          <a:p>
            <a:endParaRPr lang="en-US"/>
          </a:p>
        </p:txBody>
      </p:sp>
      <p:sp>
        <p:nvSpPr>
          <p:cNvPr id="11" name="Text 9"/>
          <p:cNvSpPr/>
          <p:nvPr/>
        </p:nvSpPr>
        <p:spPr>
          <a:xfrm>
            <a:off x="3291840" y="3035808"/>
            <a:ext cx="4480560" cy="274320"/>
          </a:xfrm>
          <a:prstGeom prst="rect">
            <a:avLst/>
          </a:prstGeom>
          <a:noFill/>
          <a:ln/>
        </p:spPr>
        <p:txBody>
          <a:bodyPr wrap="square" lIns="0" tIns="0" rIns="0" bIns="0" rtlCol="0" anchor="ctr"/>
          <a:lstStyle/>
          <a:p>
            <a:pPr marL="0" indent="0" algn="ctr">
              <a:buNone/>
            </a:pPr>
            <a:r>
              <a:rPr lang="en-US" sz="1000" b="1" dirty="0">
                <a:solidFill>
                  <a:srgbClr val="0E9A85"/>
                </a:solidFill>
                <a:latin typeface="Calibri" pitchFamily="34" charset="0"/>
                <a:ea typeface="Calibri" pitchFamily="34" charset="-122"/>
                <a:cs typeface="Calibri" pitchFamily="34" charset="-120"/>
              </a:rPr>
              <a:t>JSON PAYLOAD</a:t>
            </a:r>
            <a:endParaRPr lang="en-US" sz="1000" dirty="0"/>
          </a:p>
        </p:txBody>
      </p:sp>
      <p:sp>
        <p:nvSpPr>
          <p:cNvPr id="12" name="Text 10"/>
          <p:cNvSpPr/>
          <p:nvPr/>
        </p:nvSpPr>
        <p:spPr>
          <a:xfrm>
            <a:off x="3291840" y="3291840"/>
            <a:ext cx="4480560" cy="457200"/>
          </a:xfrm>
          <a:prstGeom prst="rect">
            <a:avLst/>
          </a:prstGeom>
          <a:noFill/>
          <a:ln/>
        </p:spPr>
        <p:txBody>
          <a:bodyPr wrap="square" lIns="0" tIns="0" rIns="0" bIns="0" rtlCol="0" anchor="ctr"/>
          <a:lstStyle/>
          <a:p>
            <a:pPr marL="0" indent="0" algn="ctr">
              <a:buNone/>
            </a:pPr>
            <a:r>
              <a:rPr lang="en-US" sz="1150" b="1" dirty="0">
                <a:solidFill>
                  <a:srgbClr val="16232E"/>
                </a:solidFill>
                <a:latin typeface="Courier New" pitchFamily="34" charset="0"/>
                <a:ea typeface="Courier New" pitchFamily="34" charset="-122"/>
                <a:cs typeface="Courier New" pitchFamily="34" charset="-120"/>
              </a:rPr>
              <a:t>{"type": "...", "sender": "...", "content": "..."}</a:t>
            </a:r>
            <a:endParaRPr lang="en-US" sz="1150" dirty="0"/>
          </a:p>
        </p:txBody>
      </p:sp>
      <p:sp>
        <p:nvSpPr>
          <p:cNvPr id="13" name="Text 11"/>
          <p:cNvSpPr/>
          <p:nvPr/>
        </p:nvSpPr>
        <p:spPr>
          <a:xfrm>
            <a:off x="1005840" y="3931920"/>
            <a:ext cx="6675120" cy="548640"/>
          </a:xfrm>
          <a:prstGeom prst="rect">
            <a:avLst/>
          </a:prstGeom>
          <a:noFill/>
          <a:ln/>
        </p:spPr>
        <p:txBody>
          <a:bodyPr wrap="square" lIns="0" tIns="0" rIns="0" bIns="0" rtlCol="0" anchor="ctr"/>
          <a:lstStyle/>
          <a:p>
            <a:pPr marL="0" indent="0">
              <a:buNone/>
            </a:pPr>
            <a:r>
              <a:rPr lang="en-US" sz="1150" i="1" dirty="0">
                <a:solidFill>
                  <a:srgbClr val="5B7182"/>
                </a:solidFill>
                <a:latin typeface="Calibri" pitchFamily="34" charset="0"/>
                <a:ea typeface="Calibri" pitchFamily="34" charset="-122"/>
                <a:cs typeface="Calibri" pitchFamily="34" charset="-120"/>
              </a:rPr>
              <a:t>Server đọc đúng 4 byte đầu để biết độ dài phần JSON theo sau, tránh gộp/xé lẫn nhiều gói tin.</a:t>
            </a:r>
            <a:endParaRPr lang="en-US" sz="1150" dirty="0"/>
          </a:p>
        </p:txBody>
      </p:sp>
      <p:sp>
        <p:nvSpPr>
          <p:cNvPr id="14" name="Shape 12"/>
          <p:cNvSpPr/>
          <p:nvPr/>
        </p:nvSpPr>
        <p:spPr>
          <a:xfrm>
            <a:off x="9006840" y="2240280"/>
            <a:ext cx="2560320" cy="3703320"/>
          </a:xfrm>
          <a:prstGeom prst="roundRect">
            <a:avLst>
              <a:gd name="adj" fmla="val 3214"/>
            </a:avLst>
          </a:prstGeom>
          <a:solidFill>
            <a:srgbClr val="0A2A43"/>
          </a:solidFill>
          <a:ln/>
          <a:effectLst>
            <a:outerShdw blurRad="101600" dist="38100" dir="5400000" algn="bl" rotWithShape="0">
              <a:srgbClr val="0A2A43">
                <a:alpha val="10000"/>
              </a:srgbClr>
            </a:outerShdw>
          </a:effectLst>
        </p:spPr>
        <p:txBody>
          <a:bodyPr/>
          <a:lstStyle/>
          <a:p>
            <a:endParaRPr lang="en-US"/>
          </a:p>
        </p:txBody>
      </p:sp>
      <p:sp>
        <p:nvSpPr>
          <p:cNvPr id="15" name="Text 13"/>
          <p:cNvSpPr/>
          <p:nvPr/>
        </p:nvSpPr>
        <p:spPr>
          <a:xfrm>
            <a:off x="9235440" y="2423160"/>
            <a:ext cx="21945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Cấu trúc JSON</a:t>
            </a:r>
            <a:endParaRPr lang="en-US" sz="1350" dirty="0"/>
          </a:p>
        </p:txBody>
      </p:sp>
      <p:sp>
        <p:nvSpPr>
          <p:cNvPr id="16" name="Text 14"/>
          <p:cNvSpPr/>
          <p:nvPr/>
        </p:nvSpPr>
        <p:spPr>
          <a:xfrm>
            <a:off x="9235440" y="2880360"/>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type</a:t>
            </a:r>
            <a:endParaRPr lang="en-US" sz="1200" dirty="0"/>
          </a:p>
        </p:txBody>
      </p:sp>
      <p:sp>
        <p:nvSpPr>
          <p:cNvPr id="17" name="Text 15"/>
          <p:cNvSpPr/>
          <p:nvPr/>
        </p:nvSpPr>
        <p:spPr>
          <a:xfrm>
            <a:off x="9235440" y="3136392"/>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Loại tin nhắn</a:t>
            </a:r>
            <a:endParaRPr lang="en-US" sz="1050" dirty="0"/>
          </a:p>
        </p:txBody>
      </p:sp>
      <p:sp>
        <p:nvSpPr>
          <p:cNvPr id="18" name="Text 16"/>
          <p:cNvSpPr/>
          <p:nvPr/>
        </p:nvSpPr>
        <p:spPr>
          <a:xfrm>
            <a:off x="9235440" y="3593592"/>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sender</a:t>
            </a:r>
            <a:endParaRPr lang="en-US" sz="1200" dirty="0"/>
          </a:p>
        </p:txBody>
      </p:sp>
      <p:sp>
        <p:nvSpPr>
          <p:cNvPr id="19" name="Text 17"/>
          <p:cNvSpPr/>
          <p:nvPr/>
        </p:nvSpPr>
        <p:spPr>
          <a:xfrm>
            <a:off x="9235440" y="3849624"/>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Người gửi</a:t>
            </a:r>
            <a:endParaRPr lang="en-US" sz="1050" dirty="0"/>
          </a:p>
        </p:txBody>
      </p:sp>
      <p:sp>
        <p:nvSpPr>
          <p:cNvPr id="20" name="Text 18"/>
          <p:cNvSpPr/>
          <p:nvPr/>
        </p:nvSpPr>
        <p:spPr>
          <a:xfrm>
            <a:off x="9235440" y="4306824"/>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content</a:t>
            </a:r>
            <a:endParaRPr lang="en-US" sz="1200" dirty="0"/>
          </a:p>
        </p:txBody>
      </p:sp>
      <p:sp>
        <p:nvSpPr>
          <p:cNvPr id="21" name="Text 19"/>
          <p:cNvSpPr/>
          <p:nvPr/>
        </p:nvSpPr>
        <p:spPr>
          <a:xfrm>
            <a:off x="9235440" y="4562856"/>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Nội dung / Base64</a:t>
            </a:r>
            <a:endParaRPr lang="en-US" sz="1050" dirty="0"/>
          </a:p>
        </p:txBody>
      </p:sp>
      <p:sp>
        <p:nvSpPr>
          <p:cNvPr id="22" name="Text 20"/>
          <p:cNvSpPr/>
          <p:nvPr/>
        </p:nvSpPr>
        <p:spPr>
          <a:xfrm>
            <a:off x="9235440" y="5020056"/>
            <a:ext cx="2194560" cy="256032"/>
          </a:xfrm>
          <a:prstGeom prst="rect">
            <a:avLst/>
          </a:prstGeom>
          <a:noFill/>
          <a:ln/>
        </p:spPr>
        <p:txBody>
          <a:bodyPr wrap="square" lIns="0" tIns="0" rIns="0" bIns="0" rtlCol="0" anchor="ctr"/>
          <a:lstStyle/>
          <a:p>
            <a:pPr marL="0" indent="0">
              <a:buNone/>
            </a:pPr>
            <a:r>
              <a:rPr lang="en-US" sz="1200" b="1" dirty="0">
                <a:solidFill>
                  <a:srgbClr val="3FE0C5"/>
                </a:solidFill>
                <a:latin typeface="Courier New" pitchFamily="34" charset="0"/>
                <a:ea typeface="Courier New" pitchFamily="34" charset="-122"/>
                <a:cs typeface="Courier New" pitchFamily="34" charset="-120"/>
              </a:rPr>
              <a:t>group_id</a:t>
            </a:r>
            <a:endParaRPr lang="en-US" sz="1200" dirty="0"/>
          </a:p>
        </p:txBody>
      </p:sp>
      <p:sp>
        <p:nvSpPr>
          <p:cNvPr id="23" name="Text 21"/>
          <p:cNvSpPr/>
          <p:nvPr/>
        </p:nvSpPr>
        <p:spPr>
          <a:xfrm>
            <a:off x="9235440" y="5276088"/>
            <a:ext cx="2194560" cy="411480"/>
          </a:xfrm>
          <a:prstGeom prst="rect">
            <a:avLst/>
          </a:prstGeom>
          <a:noFill/>
          <a:ln/>
        </p:spPr>
        <p:txBody>
          <a:bodyPr wrap="square" lIns="0" tIns="0" rIns="0" bIns="0" rtlCol="0" anchor="ctr"/>
          <a:lstStyle/>
          <a:p>
            <a:pPr marL="0" indent="0">
              <a:buNone/>
            </a:pPr>
            <a:r>
              <a:rPr lang="en-US" sz="1050" dirty="0">
                <a:solidFill>
                  <a:srgbClr val="C7DAE4"/>
                </a:solidFill>
                <a:latin typeface="Calibri" pitchFamily="34" charset="0"/>
                <a:ea typeface="Calibri" pitchFamily="34" charset="-122"/>
                <a:cs typeface="Calibri" pitchFamily="34" charset="-120"/>
              </a:rPr>
              <a:t>ID nhóm/nhận</a:t>
            </a:r>
            <a:endParaRPr lang="en-US" sz="1050" dirty="0"/>
          </a:p>
        </p:txBody>
      </p:sp>
      <p:sp>
        <p:nvSpPr>
          <p:cNvPr id="24" name="Shape 22"/>
          <p:cNvSpPr/>
          <p:nvPr/>
        </p:nvSpPr>
        <p:spPr>
          <a:xfrm>
            <a:off x="640080" y="4343400"/>
            <a:ext cx="8138160" cy="1600200"/>
          </a:xfrm>
          <a:prstGeom prst="roundRect">
            <a:avLst>
              <a:gd name="adj" fmla="val 5143"/>
            </a:avLst>
          </a:prstGeom>
          <a:solidFill>
            <a:srgbClr val="F3F8FA"/>
          </a:solidFill>
          <a:ln/>
          <a:effectLst>
            <a:outerShdw blurRad="101600" dist="38100" dir="5400000" algn="bl" rotWithShape="0">
              <a:srgbClr val="0A2A43">
                <a:alpha val="10000"/>
              </a:srgbClr>
            </a:outerShdw>
          </a:effectLst>
        </p:spPr>
        <p:txBody>
          <a:bodyPr/>
          <a:lstStyle/>
          <a:p>
            <a:endParaRPr lang="en-US"/>
          </a:p>
        </p:txBody>
      </p:sp>
      <p:sp>
        <p:nvSpPr>
          <p:cNvPr id="25" name="Text 23"/>
          <p:cNvSpPr/>
          <p:nvPr/>
        </p:nvSpPr>
        <p:spPr>
          <a:xfrm>
            <a:off x="914400" y="4480560"/>
            <a:ext cx="365760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Trường dữ liệu bổ sung</a:t>
            </a:r>
            <a:endParaRPr lang="en-US" sz="1100" dirty="0"/>
          </a:p>
        </p:txBody>
      </p:sp>
      <p:sp>
        <p:nvSpPr>
          <p:cNvPr id="26" name="Text 24"/>
          <p:cNvSpPr/>
          <p:nvPr/>
        </p:nvSpPr>
        <p:spPr>
          <a:xfrm>
            <a:off x="914400" y="4800600"/>
            <a:ext cx="7589520" cy="1005840"/>
          </a:xfrm>
          <a:prstGeom prst="rect">
            <a:avLst/>
          </a:prstGeom>
          <a:noFill/>
          <a:ln/>
        </p:spPr>
        <p:txBody>
          <a:bodyPr wrap="square" lIns="0" tIns="0" rIns="0" bIns="0" rtlCol="0" anchor="ctr"/>
          <a:lstStyle/>
          <a:p>
            <a:pPr marL="0" indent="0">
              <a:lnSpc>
                <a:spcPct val="120000"/>
              </a:lnSpc>
              <a:buNone/>
            </a:pPr>
            <a:r>
              <a:rPr lang="en-US" sz="1250" dirty="0">
                <a:solidFill>
                  <a:srgbClr val="16232E"/>
                </a:solidFill>
                <a:latin typeface="Calibri" pitchFamily="34" charset="0"/>
                <a:ea typeface="Calibri" pitchFamily="34" charset="-122"/>
                <a:cs typeface="Calibri" pitchFamily="34" charset="-120"/>
              </a:rPr>
              <a:t>group_id / receiver dùng để xác định ID phòng nhóm hoặc tên người nhận đích khi Server định tuyến gói tin (Unicast/Broadcast).</a:t>
            </a:r>
            <a:endParaRPr lang="en-US" sz="1250" dirty="0"/>
          </a:p>
        </p:txBody>
      </p:sp>
      <p:sp>
        <p:nvSpPr>
          <p:cNvPr id="27" name="Text 25"/>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8" name="Text 2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3.3  ·  THIẾT KẾ KIẾN TRÚC</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Biểu đồ tuần tự (Sequence Diagram)</a:t>
            </a:r>
            <a:endParaRPr lang="en-US" sz="3000" dirty="0"/>
          </a:p>
        </p:txBody>
      </p:sp>
      <p:sp>
        <p:nvSpPr>
          <p:cNvPr id="4" name="Text 2"/>
          <p:cNvSpPr/>
          <p:nvPr/>
        </p:nvSpPr>
        <p:spPr>
          <a:xfrm>
            <a:off x="640080" y="1417320"/>
            <a:ext cx="10789920" cy="365760"/>
          </a:xfrm>
          <a:prstGeom prst="rect">
            <a:avLst/>
          </a:prstGeom>
          <a:noFill/>
          <a:ln/>
        </p:spPr>
        <p:txBody>
          <a:bodyPr wrap="square" lIns="0" tIns="0" rIns="0" bIns="0" rtlCol="0" anchor="ctr"/>
          <a:lstStyle/>
          <a:p>
            <a:pPr marL="0" indent="0">
              <a:buNone/>
            </a:pPr>
            <a:r>
              <a:rPr lang="en-US" sz="1300" i="1" dirty="0">
                <a:solidFill>
                  <a:srgbClr val="5B7182"/>
                </a:solidFill>
                <a:latin typeface="Calibri" pitchFamily="34" charset="0"/>
                <a:ea typeface="Calibri" pitchFamily="34" charset="-122"/>
                <a:cs typeface="Calibri" pitchFamily="34" charset="-120"/>
              </a:rPr>
              <a:t>Vòng đời từ lúc kết nối đến lúc kết thúc phiên chat giữa Client và Server.</a:t>
            </a:r>
            <a:endParaRPr lang="en-US" sz="1300" dirty="0"/>
          </a:p>
        </p:txBody>
      </p:sp>
      <p:sp>
        <p:nvSpPr>
          <p:cNvPr id="5" name="Shape 3"/>
          <p:cNvSpPr/>
          <p:nvPr/>
        </p:nvSpPr>
        <p:spPr>
          <a:xfrm>
            <a:off x="3101286" y="1874520"/>
            <a:ext cx="5986380" cy="5349240"/>
          </a:xfrm>
          <a:prstGeom prst="roundRect">
            <a:avLst>
              <a:gd name="adj" fmla="val 1538"/>
            </a:avLst>
          </a:prstGeom>
          <a:solidFill>
            <a:srgbClr val="1B1B1B"/>
          </a:solidFill>
          <a:ln/>
          <a:effectLst>
            <a:outerShdw blurRad="101600" dist="38100" dir="5400000" algn="bl" rotWithShape="0">
              <a:srgbClr val="0A2A43">
                <a:alpha val="10000"/>
              </a:srgbClr>
            </a:outerShdw>
          </a:effectLst>
        </p:spPr>
        <p:txBody>
          <a:bodyPr/>
          <a:lstStyle/>
          <a:p>
            <a:endParaRPr lang="en-US"/>
          </a:p>
        </p:txBody>
      </p:sp>
      <p:pic>
        <p:nvPicPr>
          <p:cNvPr id="6" name="Image 0" descr="/home/claude/proj/images/real_sequence.png"/>
          <p:cNvPicPr>
            <a:picLocks noChangeAspect="1"/>
          </p:cNvPicPr>
          <p:nvPr/>
        </p:nvPicPr>
        <p:blipFill>
          <a:blip r:embed="rId3"/>
          <a:stretch>
            <a:fillRect/>
          </a:stretch>
        </p:blipFill>
        <p:spPr>
          <a:xfrm>
            <a:off x="3375606" y="2103120"/>
            <a:ext cx="5437740" cy="4892040"/>
          </a:xfrm>
          <a:prstGeom prst="rect">
            <a:avLst/>
          </a:prstGeom>
        </p:spPr>
      </p:pic>
      <p:sp>
        <p:nvSpPr>
          <p:cNvPr id="7" name="Text 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4</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4</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CÀI ĐẶT &amp; TRIỂN KHAI MÃ NGUỒN</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Cấu trúc thư mục dự án</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Hiện thực hóa phía Server</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Hiện thực hóa phía Client</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4.1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Cấu trúc thư mục dự án</a:t>
            </a:r>
            <a:endParaRPr lang="en-US" sz="3000" dirty="0"/>
          </a:p>
        </p:txBody>
      </p:sp>
      <p:sp>
        <p:nvSpPr>
          <p:cNvPr id="4" name="Shape 2"/>
          <p:cNvSpPr/>
          <p:nvPr/>
        </p:nvSpPr>
        <p:spPr>
          <a:xfrm>
            <a:off x="640080" y="1874520"/>
            <a:ext cx="6949440" cy="4023360"/>
          </a:xfrm>
          <a:prstGeom prst="roundRect">
            <a:avLst>
              <a:gd name="adj" fmla="val 2045"/>
            </a:avLst>
          </a:prstGeom>
          <a:solidFill>
            <a:srgbClr val="0A2A43"/>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960120" y="2148840"/>
            <a:ext cx="6309360" cy="365760"/>
          </a:xfrm>
          <a:prstGeom prst="rect">
            <a:avLst/>
          </a:prstGeom>
          <a:noFill/>
          <a:ln/>
        </p:spPr>
        <p:txBody>
          <a:bodyPr wrap="square" lIns="0" tIns="0" rIns="0" bIns="0" rtlCol="0" anchor="ctr"/>
          <a:lstStyle/>
          <a:p>
            <a:pPr marL="0" indent="0">
              <a:buNone/>
            </a:pPr>
            <a:r>
              <a:rPr lang="en-US" sz="1500" b="1" dirty="0">
                <a:solidFill>
                  <a:srgbClr val="3FE0C5"/>
                </a:solidFill>
                <a:latin typeface="Courier New" pitchFamily="34" charset="0"/>
                <a:ea typeface="Courier New" pitchFamily="34" charset="-122"/>
                <a:cs typeface="Courier New" pitchFamily="34" charset="-120"/>
              </a:rPr>
              <a:t>project-root/</a:t>
            </a:r>
            <a:endParaRPr lang="en-US" sz="1500" dirty="0"/>
          </a:p>
        </p:txBody>
      </p:sp>
      <p:sp>
        <p:nvSpPr>
          <p:cNvPr id="6" name="Text 4"/>
          <p:cNvSpPr/>
          <p:nvPr/>
        </p:nvSpPr>
        <p:spPr>
          <a:xfrm>
            <a:off x="960120" y="265176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Backend/</a:t>
            </a:r>
            <a:endParaRPr lang="en-US" sz="1300" dirty="0"/>
          </a:p>
        </p:txBody>
      </p:sp>
      <p:sp>
        <p:nvSpPr>
          <p:cNvPr id="7" name="Text 5"/>
          <p:cNvSpPr/>
          <p:nvPr/>
        </p:nvSpPr>
        <p:spPr>
          <a:xfrm>
            <a:off x="960120" y="301752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server.py</a:t>
            </a:r>
            <a:endParaRPr lang="en-US" sz="1300" dirty="0"/>
          </a:p>
        </p:txBody>
      </p:sp>
      <p:sp>
        <p:nvSpPr>
          <p:cNvPr id="8" name="Text 6"/>
          <p:cNvSpPr/>
          <p:nvPr/>
        </p:nvSpPr>
        <p:spPr>
          <a:xfrm>
            <a:off x="960120" y="338328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frontend/</a:t>
            </a:r>
            <a:endParaRPr lang="en-US" sz="1300" dirty="0"/>
          </a:p>
        </p:txBody>
      </p:sp>
      <p:sp>
        <p:nvSpPr>
          <p:cNvPr id="9" name="Text 7"/>
          <p:cNvSpPr/>
          <p:nvPr/>
        </p:nvSpPr>
        <p:spPr>
          <a:xfrm>
            <a:off x="960120" y="374904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main.py</a:t>
            </a:r>
            <a:endParaRPr lang="en-US" sz="1300" dirty="0"/>
          </a:p>
        </p:txBody>
      </p:sp>
      <p:sp>
        <p:nvSpPr>
          <p:cNvPr id="10" name="Text 8"/>
          <p:cNvSpPr/>
          <p:nvPr/>
        </p:nvSpPr>
        <p:spPr>
          <a:xfrm>
            <a:off x="960120" y="411480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Multimedia/</a:t>
            </a:r>
            <a:endParaRPr lang="en-US" sz="1300" dirty="0"/>
          </a:p>
        </p:txBody>
      </p:sp>
      <p:sp>
        <p:nvSpPr>
          <p:cNvPr id="11" name="Text 9"/>
          <p:cNvSpPr/>
          <p:nvPr/>
        </p:nvSpPr>
        <p:spPr>
          <a:xfrm>
            <a:off x="960120" y="448056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camera.py</a:t>
            </a:r>
            <a:endParaRPr lang="en-US" sz="1300" dirty="0"/>
          </a:p>
        </p:txBody>
      </p:sp>
      <p:sp>
        <p:nvSpPr>
          <p:cNvPr id="12" name="Text 10"/>
          <p:cNvSpPr/>
          <p:nvPr/>
        </p:nvSpPr>
        <p:spPr>
          <a:xfrm>
            <a:off x="960120" y="484632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 image_utils.py</a:t>
            </a:r>
            <a:endParaRPr lang="en-US" sz="1300" dirty="0"/>
          </a:p>
        </p:txBody>
      </p:sp>
      <p:sp>
        <p:nvSpPr>
          <p:cNvPr id="13" name="Text 11"/>
          <p:cNvSpPr/>
          <p:nvPr/>
        </p:nvSpPr>
        <p:spPr>
          <a:xfrm>
            <a:off x="960120" y="5212080"/>
            <a:ext cx="6309360" cy="292608"/>
          </a:xfrm>
          <a:prstGeom prst="rect">
            <a:avLst/>
          </a:prstGeom>
          <a:noFill/>
          <a:ln/>
        </p:spPr>
        <p:txBody>
          <a:bodyPr wrap="square" lIns="0" tIns="0" rIns="0" bIns="0" rtlCol="0" anchor="ctr"/>
          <a:lstStyle/>
          <a:p>
            <a:pPr marL="0" indent="0">
              <a:buNone/>
            </a:pPr>
            <a:r>
              <a:rPr lang="en-US" sz="1300" dirty="0">
                <a:solidFill>
                  <a:srgbClr val="D7E7EF"/>
                </a:solidFill>
                <a:latin typeface="Courier New" pitchFamily="34" charset="0"/>
                <a:ea typeface="Courier New" pitchFamily="34" charset="-122"/>
                <a:cs typeface="Courier New" pitchFamily="34" charset="-120"/>
              </a:rPr>
              <a:t>└── README.md</a:t>
            </a:r>
            <a:endParaRPr lang="en-US" sz="1300" dirty="0"/>
          </a:p>
        </p:txBody>
      </p:sp>
      <p:sp>
        <p:nvSpPr>
          <p:cNvPr id="14" name="Shape 12"/>
          <p:cNvSpPr/>
          <p:nvPr/>
        </p:nvSpPr>
        <p:spPr>
          <a:xfrm>
            <a:off x="7818120" y="1874520"/>
            <a:ext cx="3749040" cy="4023360"/>
          </a:xfrm>
          <a:prstGeom prst="roundRect">
            <a:avLst>
              <a:gd name="adj" fmla="val 2195"/>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5" name="Shape 13"/>
          <p:cNvSpPr/>
          <p:nvPr/>
        </p:nvSpPr>
        <p:spPr>
          <a:xfrm>
            <a:off x="8092440" y="2148840"/>
            <a:ext cx="502920" cy="502920"/>
          </a:xfrm>
          <a:prstGeom prst="ellipse">
            <a:avLst/>
          </a:prstGeom>
          <a:solidFill>
            <a:srgbClr val="D8F3EE"/>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8223199" y="2279599"/>
            <a:ext cx="241402" cy="241402"/>
          </a:xfrm>
          <a:prstGeom prst="rect">
            <a:avLst/>
          </a:prstGeom>
        </p:spPr>
      </p:pic>
      <p:sp>
        <p:nvSpPr>
          <p:cNvPr id="17" name="Text 14"/>
          <p:cNvSpPr/>
          <p:nvPr/>
        </p:nvSpPr>
        <p:spPr>
          <a:xfrm>
            <a:off x="8732520" y="2121408"/>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Backend/server.py</a:t>
            </a:r>
            <a:endParaRPr lang="en-US" sz="1200" dirty="0"/>
          </a:p>
        </p:txBody>
      </p:sp>
      <p:sp>
        <p:nvSpPr>
          <p:cNvPr id="18" name="Text 15"/>
          <p:cNvSpPr/>
          <p:nvPr/>
        </p:nvSpPr>
        <p:spPr>
          <a:xfrm>
            <a:off x="8732520" y="2441448"/>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Khởi động Server, danh sách Socket, logic Router</a:t>
            </a:r>
            <a:endParaRPr lang="en-US" sz="1050" dirty="0"/>
          </a:p>
        </p:txBody>
      </p:sp>
      <p:sp>
        <p:nvSpPr>
          <p:cNvPr id="19" name="Shape 16"/>
          <p:cNvSpPr/>
          <p:nvPr/>
        </p:nvSpPr>
        <p:spPr>
          <a:xfrm>
            <a:off x="8092440" y="3355848"/>
            <a:ext cx="502920" cy="502920"/>
          </a:xfrm>
          <a:prstGeom prst="ellipse">
            <a:avLst/>
          </a:prstGeom>
          <a:solidFill>
            <a:srgbClr val="D8F3EE"/>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8223199" y="3486607"/>
            <a:ext cx="241402" cy="241402"/>
          </a:xfrm>
          <a:prstGeom prst="rect">
            <a:avLst/>
          </a:prstGeom>
        </p:spPr>
      </p:pic>
      <p:sp>
        <p:nvSpPr>
          <p:cNvPr id="21" name="Text 17"/>
          <p:cNvSpPr/>
          <p:nvPr/>
        </p:nvSpPr>
        <p:spPr>
          <a:xfrm>
            <a:off x="8732520" y="3328416"/>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frontend/main.py</a:t>
            </a:r>
            <a:endParaRPr lang="en-US" sz="1200" dirty="0"/>
          </a:p>
        </p:txBody>
      </p:sp>
      <p:sp>
        <p:nvSpPr>
          <p:cNvPr id="22" name="Text 18"/>
          <p:cNvSpPr/>
          <p:nvPr/>
        </p:nvSpPr>
        <p:spPr>
          <a:xfrm>
            <a:off x="8732520" y="3648456"/>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Luồng UI chính (PySide6) + ReceiveThread ngầm</a:t>
            </a:r>
            <a:endParaRPr lang="en-US" sz="1050" dirty="0"/>
          </a:p>
        </p:txBody>
      </p:sp>
      <p:sp>
        <p:nvSpPr>
          <p:cNvPr id="23" name="Shape 19"/>
          <p:cNvSpPr/>
          <p:nvPr/>
        </p:nvSpPr>
        <p:spPr>
          <a:xfrm>
            <a:off x="8092440" y="4562856"/>
            <a:ext cx="502920" cy="502920"/>
          </a:xfrm>
          <a:prstGeom prst="ellipse">
            <a:avLst/>
          </a:prstGeom>
          <a:solidFill>
            <a:srgbClr val="D8F3EE"/>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8223199" y="4693615"/>
            <a:ext cx="241402" cy="241402"/>
          </a:xfrm>
          <a:prstGeom prst="rect">
            <a:avLst/>
          </a:prstGeom>
        </p:spPr>
      </p:pic>
      <p:sp>
        <p:nvSpPr>
          <p:cNvPr id="25" name="Text 20"/>
          <p:cNvSpPr/>
          <p:nvPr/>
        </p:nvSpPr>
        <p:spPr>
          <a:xfrm>
            <a:off x="8732520" y="4535424"/>
            <a:ext cx="2743200" cy="320040"/>
          </a:xfrm>
          <a:prstGeom prst="rect">
            <a:avLst/>
          </a:prstGeom>
          <a:noFill/>
          <a:ln/>
        </p:spPr>
        <p:txBody>
          <a:bodyPr wrap="square" lIns="0" tIns="0" rIns="0" bIns="0" rtlCol="0" anchor="ctr"/>
          <a:lstStyle/>
          <a:p>
            <a:pPr marL="0" indent="0">
              <a:buNone/>
            </a:pPr>
            <a:r>
              <a:rPr lang="en-US" sz="1200" b="1" dirty="0">
                <a:solidFill>
                  <a:srgbClr val="16232E"/>
                </a:solidFill>
                <a:latin typeface="Courier New" pitchFamily="34" charset="0"/>
                <a:ea typeface="Courier New" pitchFamily="34" charset="-122"/>
                <a:cs typeface="Courier New" pitchFamily="34" charset="-120"/>
              </a:rPr>
              <a:t>Multimedia/</a:t>
            </a:r>
            <a:endParaRPr lang="en-US" sz="1200" dirty="0"/>
          </a:p>
        </p:txBody>
      </p:sp>
      <p:sp>
        <p:nvSpPr>
          <p:cNvPr id="26" name="Text 21"/>
          <p:cNvSpPr/>
          <p:nvPr/>
        </p:nvSpPr>
        <p:spPr>
          <a:xfrm>
            <a:off x="8732520" y="4855464"/>
            <a:ext cx="2743200" cy="777240"/>
          </a:xfrm>
          <a:prstGeom prst="rect">
            <a:avLst/>
          </a:prstGeom>
          <a:noFill/>
          <a:ln/>
        </p:spPr>
        <p:txBody>
          <a:bodyPr wrap="square" lIns="0" tIns="0" rIns="0" bIns="0" rtlCol="0" anchor="ctr"/>
          <a:lstStyle/>
          <a:p>
            <a:pPr marL="0" indent="0">
              <a:lnSpc>
                <a:spcPct val="110000"/>
              </a:lnSpc>
              <a:buNone/>
            </a:pPr>
            <a:r>
              <a:rPr lang="en-US" sz="1050" dirty="0">
                <a:solidFill>
                  <a:srgbClr val="5B7182"/>
                </a:solidFill>
                <a:latin typeface="Calibri" pitchFamily="34" charset="0"/>
                <a:ea typeface="Calibri" pitchFamily="34" charset="-122"/>
                <a:cs typeface="Calibri" pitchFamily="34" charset="-120"/>
              </a:rPr>
              <a:t>Camera, resize ảnh Base64, forward tin nhắn</a:t>
            </a:r>
            <a:endParaRPr lang="en-US" sz="1050" dirty="0"/>
          </a:p>
        </p:txBody>
      </p:sp>
      <p:sp>
        <p:nvSpPr>
          <p:cNvPr id="27" name="Text 2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8"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4.2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Hiện thực hóa phía Server</a:t>
            </a:r>
            <a:endParaRPr lang="en-US" sz="3000" dirty="0"/>
          </a:p>
        </p:txBody>
      </p:sp>
      <p:sp>
        <p:nvSpPr>
          <p:cNvPr id="4" name="Text 2"/>
          <p:cNvSpPr/>
          <p:nvPr/>
        </p:nvSpPr>
        <p:spPr>
          <a:xfrm>
            <a:off x="640080" y="1691640"/>
            <a:ext cx="10789920" cy="457200"/>
          </a:xfrm>
          <a:prstGeom prst="rect">
            <a:avLst/>
          </a:prstGeom>
          <a:noFill/>
          <a:ln/>
        </p:spPr>
        <p:txBody>
          <a:bodyPr wrap="square" lIns="0" tIns="0" rIns="0" bIns="0" rtlCol="0" anchor="ctr"/>
          <a:lstStyle/>
          <a:p>
            <a:pPr marL="0" indent="0">
              <a:buNone/>
            </a:pPr>
            <a:r>
              <a:rPr lang="en-US" sz="1350" dirty="0">
                <a:solidFill>
                  <a:srgbClr val="5B7182"/>
                </a:solidFill>
                <a:latin typeface="Calibri" pitchFamily="34" charset="0"/>
                <a:ea typeface="Calibri" pitchFamily="34" charset="-122"/>
                <a:cs typeface="Calibri" pitchFamily="34" charset="-120"/>
              </a:rPr>
              <a:t>Đoạn mã cốt lõi để lắng nghe kết nối và sinh luồng xử lý cho từng Client (mô hình Thread-per-Connection):</a:t>
            </a:r>
            <a:endParaRPr lang="en-US" sz="1350" dirty="0"/>
          </a:p>
        </p:txBody>
      </p:sp>
      <p:sp>
        <p:nvSpPr>
          <p:cNvPr id="5" name="Shape 3"/>
          <p:cNvSpPr/>
          <p:nvPr/>
        </p:nvSpPr>
        <p:spPr>
          <a:xfrm>
            <a:off x="640080" y="2286000"/>
            <a:ext cx="7406640" cy="3642691"/>
          </a:xfrm>
          <a:prstGeom prst="roundRect">
            <a:avLst>
              <a:gd name="adj" fmla="val 2259"/>
            </a:avLst>
          </a:prstGeom>
          <a:solidFill>
            <a:srgbClr val="1B1B1B"/>
          </a:solidFill>
          <a:ln/>
          <a:effectLst>
            <a:outerShdw blurRad="101600" dist="38100" dir="5400000" algn="bl" rotWithShape="0">
              <a:srgbClr val="0A2A43">
                <a:alpha val="10000"/>
              </a:srgbClr>
            </a:outerShdw>
          </a:effectLst>
        </p:spPr>
        <p:txBody>
          <a:bodyPr/>
          <a:lstStyle/>
          <a:p>
            <a:endParaRPr lang="en-US"/>
          </a:p>
        </p:txBody>
      </p:sp>
      <p:pic>
        <p:nvPicPr>
          <p:cNvPr id="6" name="Image 0" descr="/home/claude/proj/images/server_code.png"/>
          <p:cNvPicPr>
            <a:picLocks noChangeAspect="1"/>
          </p:cNvPicPr>
          <p:nvPr/>
        </p:nvPicPr>
        <p:blipFill>
          <a:blip r:embed="rId3"/>
          <a:stretch>
            <a:fillRect/>
          </a:stretch>
        </p:blipFill>
        <p:spPr>
          <a:xfrm>
            <a:off x="868680" y="2514600"/>
            <a:ext cx="6949440" cy="3002611"/>
          </a:xfrm>
          <a:prstGeom prst="rect">
            <a:avLst/>
          </a:prstGeom>
        </p:spPr>
      </p:pic>
      <p:sp>
        <p:nvSpPr>
          <p:cNvPr id="7" name="Shape 4"/>
          <p:cNvSpPr/>
          <p:nvPr/>
        </p:nvSpPr>
        <p:spPr>
          <a:xfrm>
            <a:off x="8275320" y="2286000"/>
            <a:ext cx="3291840" cy="3642691"/>
          </a:xfrm>
          <a:prstGeom prst="roundRect">
            <a:avLst>
              <a:gd name="adj" fmla="val 2500"/>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8" name="Shape 5"/>
          <p:cNvSpPr/>
          <p:nvPr/>
        </p:nvSpPr>
        <p:spPr>
          <a:xfrm>
            <a:off x="8549640" y="2560320"/>
            <a:ext cx="594360" cy="594360"/>
          </a:xfrm>
          <a:prstGeom prst="ellipse">
            <a:avLst/>
          </a:prstGeom>
          <a:solidFill>
            <a:srgbClr val="0A2A43"/>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8704174" y="2714854"/>
            <a:ext cx="285293" cy="285293"/>
          </a:xfrm>
          <a:prstGeom prst="rect">
            <a:avLst/>
          </a:prstGeom>
        </p:spPr>
      </p:pic>
      <p:sp>
        <p:nvSpPr>
          <p:cNvPr id="10" name="Text 6"/>
          <p:cNvSpPr/>
          <p:nvPr/>
        </p:nvSpPr>
        <p:spPr>
          <a:xfrm>
            <a:off x="8549640" y="329184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Router trung tâm</a:t>
            </a:r>
            <a:endParaRPr lang="en-US" sz="1500" dirty="0"/>
          </a:p>
        </p:txBody>
      </p:sp>
      <p:sp>
        <p:nvSpPr>
          <p:cNvPr id="11" name="Text 7"/>
          <p:cNvSpPr/>
          <p:nvPr/>
        </p:nvSpPr>
        <p:spPr>
          <a:xfrm>
            <a:off x="8549640" y="3749040"/>
            <a:ext cx="2788920" cy="1554480"/>
          </a:xfrm>
          <a:prstGeom prst="rect">
            <a:avLst/>
          </a:prstGeom>
          <a:noFill/>
          <a:ln/>
        </p:spPr>
        <p:txBody>
          <a:bodyPr wrap="square" lIns="0" tIns="0" rIns="0" bIns="0" rtlCol="0" anchor="ctr"/>
          <a:lstStyle/>
          <a:p>
            <a:pPr marL="0" indent="0">
              <a:lnSpc>
                <a:spcPct val="120000"/>
              </a:lnSpc>
              <a:buNone/>
            </a:pPr>
            <a:r>
              <a:rPr lang="en-US" sz="1200" dirty="0">
                <a:solidFill>
                  <a:srgbClr val="C7DAE4"/>
                </a:solidFill>
                <a:latin typeface="Calibri" pitchFamily="34" charset="0"/>
                <a:ea typeface="Calibri" pitchFamily="34" charset="-122"/>
                <a:cs typeface="Calibri" pitchFamily="34" charset="-120"/>
              </a:rPr>
              <a:t>Server duy trì danh sách Socket đang kết nối và quyết định định tuyến Unicast / Broadcast cho từng gói tin JSON.</a:t>
            </a:r>
            <a:endParaRPr lang="en-US" sz="1200" dirty="0"/>
          </a:p>
        </p:txBody>
      </p:sp>
      <p:sp>
        <p:nvSpPr>
          <p:cNvPr id="12" name="Text 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3" name="Text 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4.3  ·  CÀI ĐẶT &amp; TRIỂN KHAI</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Hiện thực hóa phía Client</a:t>
            </a:r>
            <a:endParaRPr lang="en-US" sz="3000" dirty="0"/>
          </a:p>
        </p:txBody>
      </p:sp>
      <p:sp>
        <p:nvSpPr>
          <p:cNvPr id="4" name="Text 2"/>
          <p:cNvSpPr/>
          <p:nvPr/>
        </p:nvSpPr>
        <p:spPr>
          <a:xfrm>
            <a:off x="640080" y="1691640"/>
            <a:ext cx="10789920" cy="502920"/>
          </a:xfrm>
          <a:prstGeom prst="rect">
            <a:avLst/>
          </a:prstGeom>
          <a:noFill/>
          <a:ln/>
        </p:spPr>
        <p:txBody>
          <a:bodyPr wrap="square" lIns="0" tIns="0" rIns="0" bIns="0" rtlCol="0" anchor="ctr"/>
          <a:lstStyle/>
          <a:p>
            <a:pPr marL="0" indent="0">
              <a:buNone/>
            </a:pPr>
            <a:r>
              <a:rPr lang="en-US" sz="1300" i="1" dirty="0">
                <a:solidFill>
                  <a:srgbClr val="E0703A"/>
                </a:solidFill>
                <a:latin typeface="Calibri" pitchFamily="34" charset="0"/>
                <a:ea typeface="Calibri" pitchFamily="34" charset="-122"/>
                <a:cs typeface="Calibri" pitchFamily="34" charset="-120"/>
              </a:rPr>
              <a:t>Vấn đề: hàm recv() chặn (blocking) sẽ làm đóng băng toàn bộ giao diện nếu chạy trên luồng chính. Giải pháp: đưa logic nhận dữ liệu vào một QThread ngầm riêng.</a:t>
            </a:r>
            <a:endParaRPr lang="en-US" sz="1300" dirty="0"/>
          </a:p>
        </p:txBody>
      </p:sp>
      <p:sp>
        <p:nvSpPr>
          <p:cNvPr id="5" name="Shape 3"/>
          <p:cNvSpPr/>
          <p:nvPr/>
        </p:nvSpPr>
        <p:spPr>
          <a:xfrm>
            <a:off x="640080" y="2331720"/>
            <a:ext cx="7406640" cy="4038336"/>
          </a:xfrm>
          <a:prstGeom prst="roundRect">
            <a:avLst>
              <a:gd name="adj" fmla="val 2038"/>
            </a:avLst>
          </a:prstGeom>
          <a:solidFill>
            <a:srgbClr val="1B1B1B"/>
          </a:solidFill>
          <a:ln/>
          <a:effectLst>
            <a:outerShdw blurRad="101600" dist="38100" dir="5400000" algn="bl" rotWithShape="0">
              <a:srgbClr val="0A2A43">
                <a:alpha val="10000"/>
              </a:srgbClr>
            </a:outerShdw>
          </a:effectLst>
        </p:spPr>
        <p:txBody>
          <a:bodyPr/>
          <a:lstStyle/>
          <a:p>
            <a:endParaRPr lang="en-US"/>
          </a:p>
        </p:txBody>
      </p:sp>
      <p:pic>
        <p:nvPicPr>
          <p:cNvPr id="6" name="Image 0" descr="/home/claude/proj/images/client_code.png"/>
          <p:cNvPicPr>
            <a:picLocks noChangeAspect="1"/>
          </p:cNvPicPr>
          <p:nvPr/>
        </p:nvPicPr>
        <p:blipFill>
          <a:blip r:embed="rId3"/>
          <a:stretch>
            <a:fillRect/>
          </a:stretch>
        </p:blipFill>
        <p:spPr>
          <a:xfrm>
            <a:off x="868680" y="2560320"/>
            <a:ext cx="6949440" cy="3581136"/>
          </a:xfrm>
          <a:prstGeom prst="rect">
            <a:avLst/>
          </a:prstGeom>
        </p:spPr>
      </p:pic>
      <p:sp>
        <p:nvSpPr>
          <p:cNvPr id="7" name="Shape 4"/>
          <p:cNvSpPr/>
          <p:nvPr/>
        </p:nvSpPr>
        <p:spPr>
          <a:xfrm>
            <a:off x="8275320" y="2331720"/>
            <a:ext cx="3291840" cy="4038336"/>
          </a:xfrm>
          <a:prstGeom prst="roundRect">
            <a:avLst>
              <a:gd name="adj" fmla="val 2500"/>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8" name="Shape 5"/>
          <p:cNvSpPr/>
          <p:nvPr/>
        </p:nvSpPr>
        <p:spPr>
          <a:xfrm>
            <a:off x="8549640" y="2606040"/>
            <a:ext cx="594360" cy="594360"/>
          </a:xfrm>
          <a:prstGeom prst="ellipse">
            <a:avLst/>
          </a:prstGeom>
          <a:solidFill>
            <a:srgbClr val="0A2A43"/>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8704174" y="2760574"/>
            <a:ext cx="285293" cy="285293"/>
          </a:xfrm>
          <a:prstGeom prst="rect">
            <a:avLst/>
          </a:prstGeom>
        </p:spPr>
      </p:pic>
      <p:sp>
        <p:nvSpPr>
          <p:cNvPr id="10" name="Text 6"/>
          <p:cNvSpPr/>
          <p:nvPr/>
        </p:nvSpPr>
        <p:spPr>
          <a:xfrm>
            <a:off x="8549640" y="3337560"/>
            <a:ext cx="274320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ReceiveThread</a:t>
            </a:r>
            <a:endParaRPr lang="en-US" sz="1500" dirty="0"/>
          </a:p>
        </p:txBody>
      </p:sp>
      <p:sp>
        <p:nvSpPr>
          <p:cNvPr id="11" name="Text 7"/>
          <p:cNvSpPr/>
          <p:nvPr/>
        </p:nvSpPr>
        <p:spPr>
          <a:xfrm>
            <a:off x="8549640" y="3794760"/>
            <a:ext cx="2788920" cy="1554480"/>
          </a:xfrm>
          <a:prstGeom prst="rect">
            <a:avLst/>
          </a:prstGeom>
          <a:noFill/>
          <a:ln/>
        </p:spPr>
        <p:txBody>
          <a:bodyPr wrap="square" lIns="0" tIns="0" rIns="0" bIns="0" rtlCol="0" anchor="ctr"/>
          <a:lstStyle/>
          <a:p>
            <a:pPr marL="0" indent="0">
              <a:lnSpc>
                <a:spcPct val="120000"/>
              </a:lnSpc>
              <a:buNone/>
            </a:pPr>
            <a:r>
              <a:rPr lang="en-US" sz="1150" dirty="0">
                <a:solidFill>
                  <a:srgbClr val="C7DAE4"/>
                </a:solidFill>
                <a:latin typeface="Calibri" pitchFamily="34" charset="0"/>
                <a:ea typeface="Calibri" pitchFamily="34" charset="-122"/>
                <a:cs typeface="Calibri" pitchFamily="34" charset="-120"/>
              </a:rPr>
              <a:t>QThread ngầm đọc đúng 4-byte Header rồi đến phần JSON, sau đó phát tín hiệu (Signal) để cập nhật giao diện an toàn.</a:t>
            </a:r>
            <a:endParaRPr lang="en-US" sz="1150" dirty="0"/>
          </a:p>
        </p:txBody>
      </p:sp>
      <p:sp>
        <p:nvSpPr>
          <p:cNvPr id="12" name="Text 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13" name="Text 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5</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5</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KIỂM THỬ, ĐÁNH GIÁ &amp; KHẮC PHỤC SỰ CỐ</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Kịch bản kiểm thử (Test cases)</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Các khó khăn đã gặp và giải pháp</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5.1  ·  KIỂM THỬ &amp; ĐÁNH GIÁ</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Kịch bản kiểm thử (Test cases)</a:t>
            </a:r>
            <a:endParaRPr lang="en-US" sz="3000" dirty="0"/>
          </a:p>
        </p:txBody>
      </p:sp>
      <p:sp>
        <p:nvSpPr>
          <p:cNvPr id="4" name="Shape 2"/>
          <p:cNvSpPr/>
          <p:nvPr/>
        </p:nvSpPr>
        <p:spPr>
          <a:xfrm>
            <a:off x="64008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Shape 3"/>
          <p:cNvSpPr/>
          <p:nvPr/>
        </p:nvSpPr>
        <p:spPr>
          <a:xfrm>
            <a:off x="914400" y="2240280"/>
            <a:ext cx="640080" cy="640080"/>
          </a:xfrm>
          <a:prstGeom prst="ellipse">
            <a:avLst/>
          </a:prstGeom>
          <a:solidFill>
            <a:srgbClr val="D8F3E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80821" y="2406701"/>
            <a:ext cx="307238" cy="307238"/>
          </a:xfrm>
          <a:prstGeom prst="rect">
            <a:avLst/>
          </a:prstGeom>
        </p:spPr>
      </p:pic>
      <p:sp>
        <p:nvSpPr>
          <p:cNvPr id="7" name="Text 4"/>
          <p:cNvSpPr/>
          <p:nvPr/>
        </p:nvSpPr>
        <p:spPr>
          <a:xfrm>
            <a:off x="91440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1</a:t>
            </a:r>
            <a:endParaRPr lang="en-US" sz="1100" dirty="0"/>
          </a:p>
        </p:txBody>
      </p:sp>
      <p:sp>
        <p:nvSpPr>
          <p:cNvPr id="8" name="Text 5"/>
          <p:cNvSpPr/>
          <p:nvPr/>
        </p:nvSpPr>
        <p:spPr>
          <a:xfrm>
            <a:off x="91440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Truyền nhận cơ bản</a:t>
            </a:r>
            <a:endParaRPr lang="en-US" sz="1500" dirty="0"/>
          </a:p>
        </p:txBody>
      </p:sp>
      <p:sp>
        <p:nvSpPr>
          <p:cNvPr id="9" name="Text 6"/>
          <p:cNvSpPr/>
          <p:nvPr/>
        </p:nvSpPr>
        <p:spPr>
          <a:xfrm>
            <a:off x="91440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1 Server – 1 Client. Client gửi chuỗi ảnh khổng lồ; Server phân tách và trả về mà không rách gói tin.</a:t>
            </a:r>
            <a:endParaRPr lang="en-US" sz="1200" dirty="0"/>
          </a:p>
        </p:txBody>
      </p:sp>
      <p:sp>
        <p:nvSpPr>
          <p:cNvPr id="10" name="Shape 7"/>
          <p:cNvSpPr/>
          <p:nvPr/>
        </p:nvSpPr>
        <p:spPr>
          <a:xfrm>
            <a:off x="438912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1" name="Shape 8"/>
          <p:cNvSpPr/>
          <p:nvPr/>
        </p:nvSpPr>
        <p:spPr>
          <a:xfrm>
            <a:off x="4663440" y="2240280"/>
            <a:ext cx="640080" cy="640080"/>
          </a:xfrm>
          <a:prstGeom prst="ellipse">
            <a:avLst/>
          </a:prstGeom>
          <a:solidFill>
            <a:srgbClr val="D8F3EE"/>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29861" y="2406701"/>
            <a:ext cx="307238" cy="307238"/>
          </a:xfrm>
          <a:prstGeom prst="rect">
            <a:avLst/>
          </a:prstGeom>
        </p:spPr>
      </p:pic>
      <p:sp>
        <p:nvSpPr>
          <p:cNvPr id="13" name="Text 9"/>
          <p:cNvSpPr/>
          <p:nvPr/>
        </p:nvSpPr>
        <p:spPr>
          <a:xfrm>
            <a:off x="466344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2</a:t>
            </a:r>
            <a:endParaRPr lang="en-US" sz="1100" dirty="0"/>
          </a:p>
        </p:txBody>
      </p:sp>
      <p:sp>
        <p:nvSpPr>
          <p:cNvPr id="14" name="Text 10"/>
          <p:cNvSpPr/>
          <p:nvPr/>
        </p:nvSpPr>
        <p:spPr>
          <a:xfrm>
            <a:off x="466344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Stress Test Broadcasting</a:t>
            </a:r>
            <a:endParaRPr lang="en-US" sz="1500" dirty="0"/>
          </a:p>
        </p:txBody>
      </p:sp>
      <p:sp>
        <p:nvSpPr>
          <p:cNvPr id="15" name="Text 11"/>
          <p:cNvSpPr/>
          <p:nvPr/>
        </p:nvSpPr>
        <p:spPr>
          <a:xfrm>
            <a:off x="466344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50 Client, 1 Client spam 100 tin nhắn / 2 giây. Hệ thống chia luồng, xử lý Queue mượt, không giật lag.</a:t>
            </a:r>
            <a:endParaRPr lang="en-US" sz="1200" dirty="0"/>
          </a:p>
        </p:txBody>
      </p:sp>
      <p:sp>
        <p:nvSpPr>
          <p:cNvPr id="16" name="Shape 12"/>
          <p:cNvSpPr/>
          <p:nvPr/>
        </p:nvSpPr>
        <p:spPr>
          <a:xfrm>
            <a:off x="813816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7" name="Shape 13"/>
          <p:cNvSpPr/>
          <p:nvPr/>
        </p:nvSpPr>
        <p:spPr>
          <a:xfrm>
            <a:off x="8412480" y="2240280"/>
            <a:ext cx="640080" cy="640080"/>
          </a:xfrm>
          <a:prstGeom prst="ellipse">
            <a:avLst/>
          </a:prstGeom>
          <a:solidFill>
            <a:srgbClr val="D8F3E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78901" y="2406701"/>
            <a:ext cx="307238" cy="307238"/>
          </a:xfrm>
          <a:prstGeom prst="rect">
            <a:avLst/>
          </a:prstGeom>
        </p:spPr>
      </p:pic>
      <p:sp>
        <p:nvSpPr>
          <p:cNvPr id="19" name="Text 14"/>
          <p:cNvSpPr/>
          <p:nvPr/>
        </p:nvSpPr>
        <p:spPr>
          <a:xfrm>
            <a:off x="8412480" y="3017520"/>
            <a:ext cx="2880360" cy="27432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TEST 3</a:t>
            </a:r>
            <a:endParaRPr lang="en-US" sz="1100" dirty="0"/>
          </a:p>
        </p:txBody>
      </p:sp>
      <p:sp>
        <p:nvSpPr>
          <p:cNvPr id="20" name="Text 15"/>
          <p:cNvSpPr/>
          <p:nvPr/>
        </p:nvSpPr>
        <p:spPr>
          <a:xfrm>
            <a:off x="8412480" y="3291840"/>
            <a:ext cx="2880360" cy="594360"/>
          </a:xfrm>
          <a:prstGeom prst="rect">
            <a:avLst/>
          </a:prstGeom>
          <a:noFill/>
          <a:ln/>
        </p:spPr>
        <p:txBody>
          <a:bodyPr wrap="square" lIns="0" tIns="0" rIns="0" bIns="0" rtlCol="0" anchor="ctr"/>
          <a:lstStyle/>
          <a:p>
            <a:pPr marL="0" indent="0">
              <a:buNone/>
            </a:pPr>
            <a:r>
              <a:rPr lang="en-US" sz="1500" b="1" dirty="0">
                <a:solidFill>
                  <a:srgbClr val="16232E"/>
                </a:solidFill>
                <a:latin typeface="Arial" pitchFamily="34" charset="0"/>
                <a:ea typeface="Arial" pitchFamily="34" charset="-122"/>
                <a:cs typeface="Arial" pitchFamily="34" charset="-120"/>
              </a:rPr>
              <a:t>Xử lý ngoại lệ đứt kết nối</a:t>
            </a:r>
            <a:endParaRPr lang="en-US" sz="1500" dirty="0"/>
          </a:p>
        </p:txBody>
      </p:sp>
      <p:sp>
        <p:nvSpPr>
          <p:cNvPr id="21" name="Text 16"/>
          <p:cNvSpPr/>
          <p:nvPr/>
        </p:nvSpPr>
        <p:spPr>
          <a:xfrm>
            <a:off x="8412480" y="3931920"/>
            <a:ext cx="2880360" cy="182880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Rút mạng / tắt đột ngột Client. Server bắt ConnectionResetError/EOFError, dọn RAM, không sập máy chủ.</a:t>
            </a:r>
            <a:endParaRPr lang="en-US" sz="1200" dirty="0"/>
          </a:p>
        </p:txBody>
      </p:sp>
      <p:sp>
        <p:nvSpPr>
          <p:cNvPr id="22" name="Text 17"/>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3"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5.2  ·  KIỂM THỬ &amp; ĐÁNH GIÁ</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Khó khăn đã gặp và giải pháp</a:t>
            </a:r>
            <a:endParaRPr lang="en-US" sz="3000" dirty="0"/>
          </a:p>
        </p:txBody>
      </p:sp>
      <p:sp>
        <p:nvSpPr>
          <p:cNvPr id="4" name="Shape 2"/>
          <p:cNvSpPr/>
          <p:nvPr/>
        </p:nvSpPr>
        <p:spPr>
          <a:xfrm>
            <a:off x="640080" y="1828800"/>
            <a:ext cx="10881360" cy="2057400"/>
          </a:xfrm>
          <a:prstGeom prst="roundRect">
            <a:avLst>
              <a:gd name="adj" fmla="val 40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Shape 3"/>
          <p:cNvSpPr/>
          <p:nvPr/>
        </p:nvSpPr>
        <p:spPr>
          <a:xfrm>
            <a:off x="914400" y="2084832"/>
            <a:ext cx="594360" cy="594360"/>
          </a:xfrm>
          <a:prstGeom prst="ellipse">
            <a:avLst/>
          </a:prstGeom>
          <a:solidFill>
            <a:srgbClr val="FBE4E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68934" y="2239366"/>
            <a:ext cx="285293" cy="285293"/>
          </a:xfrm>
          <a:prstGeom prst="rect">
            <a:avLst/>
          </a:prstGeom>
        </p:spPr>
      </p:pic>
      <p:sp>
        <p:nvSpPr>
          <p:cNvPr id="7" name="Text 4"/>
          <p:cNvSpPr/>
          <p:nvPr/>
        </p:nvSpPr>
        <p:spPr>
          <a:xfrm>
            <a:off x="1691640" y="2029968"/>
            <a:ext cx="4663440" cy="36576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KHÓ KHĂN 1  ·  Tràn khung đồ họa (UI Freeze)</a:t>
            </a:r>
            <a:endParaRPr lang="en-US" sz="1400" dirty="0"/>
          </a:p>
        </p:txBody>
      </p:sp>
      <p:sp>
        <p:nvSpPr>
          <p:cNvPr id="8" name="Text 5"/>
          <p:cNvSpPr/>
          <p:nvPr/>
        </p:nvSpPr>
        <p:spPr>
          <a:xfrm>
            <a:off x="1691640" y="2395728"/>
            <a:ext cx="4709160" cy="128016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Nhận nhiều ảnh cùng lúc khiến giao diện giật khựng.</a:t>
            </a:r>
            <a:endParaRPr lang="en-US" sz="1200" dirty="0"/>
          </a:p>
        </p:txBody>
      </p:sp>
      <p:sp>
        <p:nvSpPr>
          <p:cNvPr id="9" name="Shape 6"/>
          <p:cNvSpPr/>
          <p:nvPr/>
        </p:nvSpPr>
        <p:spPr>
          <a:xfrm>
            <a:off x="6537960" y="1993392"/>
            <a:ext cx="18288" cy="1737360"/>
          </a:xfrm>
          <a:prstGeom prst="rect">
            <a:avLst/>
          </a:prstGeom>
          <a:solidFill>
            <a:srgbClr val="E3ECF0"/>
          </a:solidFill>
          <a:ln/>
        </p:spPr>
        <p:txBody>
          <a:bodyPr/>
          <a:lstStyle/>
          <a:p>
            <a:endParaRPr lang="en-US"/>
          </a:p>
        </p:txBody>
      </p:sp>
      <p:sp>
        <p:nvSpPr>
          <p:cNvPr id="10" name="Shape 7"/>
          <p:cNvSpPr/>
          <p:nvPr/>
        </p:nvSpPr>
        <p:spPr>
          <a:xfrm>
            <a:off x="6858000" y="2084832"/>
            <a:ext cx="594360" cy="594360"/>
          </a:xfrm>
          <a:prstGeom prst="ellipse">
            <a:avLst/>
          </a:prstGeom>
          <a:solidFill>
            <a:srgbClr val="D8F3E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012534" y="2239366"/>
            <a:ext cx="285293" cy="285293"/>
          </a:xfrm>
          <a:prstGeom prst="rect">
            <a:avLst/>
          </a:prstGeom>
        </p:spPr>
      </p:pic>
      <p:sp>
        <p:nvSpPr>
          <p:cNvPr id="12" name="Text 8"/>
          <p:cNvSpPr/>
          <p:nvPr/>
        </p:nvSpPr>
        <p:spPr>
          <a:xfrm>
            <a:off x="7635240" y="2029968"/>
            <a:ext cx="3474720" cy="32004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GIẢI PHÁP</a:t>
            </a:r>
            <a:endParaRPr lang="en-US" sz="1100" dirty="0"/>
          </a:p>
        </p:txBody>
      </p:sp>
      <p:sp>
        <p:nvSpPr>
          <p:cNvPr id="13" name="Text 9"/>
          <p:cNvSpPr/>
          <p:nvPr/>
        </p:nvSpPr>
        <p:spPr>
          <a:xfrm>
            <a:off x="7635240" y="2359152"/>
            <a:ext cx="3703320" cy="1371600"/>
          </a:xfrm>
          <a:prstGeom prst="rect">
            <a:avLst/>
          </a:prstGeom>
          <a:noFill/>
          <a:ln/>
        </p:spPr>
        <p:txBody>
          <a:bodyPr wrap="square" lIns="0" tIns="0" rIns="0" bIns="0" rtlCol="0" anchor="ctr"/>
          <a:lstStyle/>
          <a:p>
            <a:pPr marL="0" indent="0">
              <a:lnSpc>
                <a:spcPct val="120000"/>
              </a:lnSpc>
              <a:buNone/>
            </a:pPr>
            <a:r>
              <a:rPr lang="en-US" sz="1200" dirty="0">
                <a:solidFill>
                  <a:srgbClr val="16232E"/>
                </a:solidFill>
                <a:latin typeface="Calibri" pitchFamily="34" charset="0"/>
                <a:ea typeface="Calibri" pitchFamily="34" charset="-122"/>
                <a:cs typeface="Calibri" pitchFamily="34" charset="-120"/>
              </a:rPr>
              <a:t>Nén ảnh bằng cv2.imencode (JPEG 80%) trước khi truyền, dùng QTimer.singleShot để giãn tốc độ cuộn giao diện.</a:t>
            </a:r>
            <a:endParaRPr lang="en-US" sz="1200" dirty="0"/>
          </a:p>
        </p:txBody>
      </p:sp>
      <p:sp>
        <p:nvSpPr>
          <p:cNvPr id="14" name="Shape 10"/>
          <p:cNvSpPr/>
          <p:nvPr/>
        </p:nvSpPr>
        <p:spPr>
          <a:xfrm>
            <a:off x="640080" y="4114800"/>
            <a:ext cx="10881360" cy="2057400"/>
          </a:xfrm>
          <a:prstGeom prst="roundRect">
            <a:avLst>
              <a:gd name="adj" fmla="val 40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5" name="Shape 11"/>
          <p:cNvSpPr/>
          <p:nvPr/>
        </p:nvSpPr>
        <p:spPr>
          <a:xfrm>
            <a:off x="914400" y="4370832"/>
            <a:ext cx="594360" cy="594360"/>
          </a:xfrm>
          <a:prstGeom prst="ellipse">
            <a:avLst/>
          </a:prstGeom>
          <a:solidFill>
            <a:srgbClr val="FBE4E0"/>
          </a:solidFill>
          <a:ln/>
        </p:spPr>
        <p:txBody>
          <a:bodyPr/>
          <a:lstStyle/>
          <a:p>
            <a:endParaRPr lang="en-US"/>
          </a:p>
        </p:txBody>
      </p:sp>
      <p:pic>
        <p:nvPicPr>
          <p:cNvPr id="16" name="Image 2" descr="preencoded.png"/>
          <p:cNvPicPr>
            <a:picLocks noChangeAspect="1"/>
          </p:cNvPicPr>
          <p:nvPr/>
        </p:nvPicPr>
        <p:blipFill>
          <a:blip r:embed="rId3"/>
          <a:stretch>
            <a:fillRect/>
          </a:stretch>
        </p:blipFill>
        <p:spPr>
          <a:xfrm>
            <a:off x="1068934" y="4525366"/>
            <a:ext cx="285293" cy="285293"/>
          </a:xfrm>
          <a:prstGeom prst="rect">
            <a:avLst/>
          </a:prstGeom>
        </p:spPr>
      </p:pic>
      <p:sp>
        <p:nvSpPr>
          <p:cNvPr id="17" name="Text 12"/>
          <p:cNvSpPr/>
          <p:nvPr/>
        </p:nvSpPr>
        <p:spPr>
          <a:xfrm>
            <a:off x="1691640" y="4315968"/>
            <a:ext cx="4663440" cy="365760"/>
          </a:xfrm>
          <a:prstGeom prst="rect">
            <a:avLst/>
          </a:prstGeom>
          <a:noFill/>
          <a:ln/>
        </p:spPr>
        <p:txBody>
          <a:bodyPr wrap="square" lIns="0" tIns="0" rIns="0" bIns="0" rtlCol="0" anchor="ctr"/>
          <a:lstStyle/>
          <a:p>
            <a:pPr marL="0" indent="0">
              <a:buNone/>
            </a:pPr>
            <a:r>
              <a:rPr lang="en-US" sz="1400" b="1" dirty="0">
                <a:solidFill>
                  <a:srgbClr val="16232E"/>
                </a:solidFill>
                <a:latin typeface="Arial" pitchFamily="34" charset="0"/>
                <a:ea typeface="Arial" pitchFamily="34" charset="-122"/>
                <a:cs typeface="Arial" pitchFamily="34" charset="-120"/>
              </a:rPr>
              <a:t>KHÓ KHĂN 2  ·  TCP Sticky Packets</a:t>
            </a:r>
            <a:endParaRPr lang="en-US" sz="1400" dirty="0"/>
          </a:p>
        </p:txBody>
      </p:sp>
      <p:sp>
        <p:nvSpPr>
          <p:cNvPr id="18" name="Text 13"/>
          <p:cNvSpPr/>
          <p:nvPr/>
        </p:nvSpPr>
        <p:spPr>
          <a:xfrm>
            <a:off x="1691640" y="4681728"/>
            <a:ext cx="4709160" cy="1280160"/>
          </a:xfrm>
          <a:prstGeom prst="rect">
            <a:avLst/>
          </a:prstGeom>
          <a:noFill/>
          <a:ln/>
        </p:spPr>
        <p:txBody>
          <a:bodyPr wrap="square" lIns="0" tIns="0" rIns="0" bIns="0" rtlCol="0" anchor="ctr"/>
          <a:lstStyle/>
          <a:p>
            <a:pPr marL="0" indent="0">
              <a:lnSpc>
                <a:spcPct val="120000"/>
              </a:lnSpc>
              <a:buNone/>
            </a:pPr>
            <a:r>
              <a:rPr lang="en-US" sz="1200" dirty="0">
                <a:solidFill>
                  <a:srgbClr val="5B7182"/>
                </a:solidFill>
                <a:latin typeface="Calibri" pitchFamily="34" charset="0"/>
                <a:ea typeface="Calibri" pitchFamily="34" charset="-122"/>
                <a:cs typeface="Calibri" pitchFamily="34" charset="-120"/>
              </a:rPr>
              <a:t>Gửi "Hello" và "World" quá nhanh, Server đọc nhầm thành "HelloWorld" → lỗi giải mã JSON.</a:t>
            </a:r>
            <a:endParaRPr lang="en-US" sz="1200" dirty="0"/>
          </a:p>
        </p:txBody>
      </p:sp>
      <p:sp>
        <p:nvSpPr>
          <p:cNvPr id="19" name="Shape 14"/>
          <p:cNvSpPr/>
          <p:nvPr/>
        </p:nvSpPr>
        <p:spPr>
          <a:xfrm>
            <a:off x="6537960" y="4279392"/>
            <a:ext cx="18288" cy="1737360"/>
          </a:xfrm>
          <a:prstGeom prst="rect">
            <a:avLst/>
          </a:prstGeom>
          <a:solidFill>
            <a:srgbClr val="E3ECF0"/>
          </a:solidFill>
          <a:ln/>
        </p:spPr>
        <p:txBody>
          <a:bodyPr/>
          <a:lstStyle/>
          <a:p>
            <a:endParaRPr lang="en-US"/>
          </a:p>
        </p:txBody>
      </p:sp>
      <p:sp>
        <p:nvSpPr>
          <p:cNvPr id="20" name="Shape 15"/>
          <p:cNvSpPr/>
          <p:nvPr/>
        </p:nvSpPr>
        <p:spPr>
          <a:xfrm>
            <a:off x="6858000" y="4370832"/>
            <a:ext cx="594360" cy="594360"/>
          </a:xfrm>
          <a:prstGeom prst="ellipse">
            <a:avLst/>
          </a:prstGeom>
          <a:solidFill>
            <a:srgbClr val="D8F3EE"/>
          </a:solidFill>
          <a:ln/>
        </p:spPr>
        <p:txBody>
          <a:bodyPr/>
          <a:lstStyle/>
          <a:p>
            <a:endParaRPr lang="en-US"/>
          </a:p>
        </p:txBody>
      </p:sp>
      <p:pic>
        <p:nvPicPr>
          <p:cNvPr id="21" name="Image 3" descr="preencoded.png"/>
          <p:cNvPicPr>
            <a:picLocks noChangeAspect="1"/>
          </p:cNvPicPr>
          <p:nvPr/>
        </p:nvPicPr>
        <p:blipFill>
          <a:blip r:embed="rId4"/>
          <a:stretch>
            <a:fillRect/>
          </a:stretch>
        </p:blipFill>
        <p:spPr>
          <a:xfrm>
            <a:off x="7012534" y="4525366"/>
            <a:ext cx="285293" cy="285293"/>
          </a:xfrm>
          <a:prstGeom prst="rect">
            <a:avLst/>
          </a:prstGeom>
        </p:spPr>
      </p:pic>
      <p:sp>
        <p:nvSpPr>
          <p:cNvPr id="22" name="Text 16"/>
          <p:cNvSpPr/>
          <p:nvPr/>
        </p:nvSpPr>
        <p:spPr>
          <a:xfrm>
            <a:off x="7635240" y="4315968"/>
            <a:ext cx="3474720" cy="320040"/>
          </a:xfrm>
          <a:prstGeom prst="rect">
            <a:avLst/>
          </a:prstGeom>
          <a:noFill/>
          <a:ln/>
        </p:spPr>
        <p:txBody>
          <a:bodyPr wrap="square" lIns="0" tIns="0" rIns="0" bIns="0" rtlCol="0" anchor="ctr"/>
          <a:lstStyle/>
          <a:p>
            <a:pPr marL="0" indent="0">
              <a:buNone/>
            </a:pPr>
            <a:r>
              <a:rPr lang="en-US" sz="1100" b="1" kern="0" spc="100" dirty="0">
                <a:solidFill>
                  <a:srgbClr val="0E9A85"/>
                </a:solidFill>
                <a:latin typeface="Calibri" pitchFamily="34" charset="0"/>
                <a:ea typeface="Calibri" pitchFamily="34" charset="-122"/>
                <a:cs typeface="Calibri" pitchFamily="34" charset="-120"/>
              </a:rPr>
              <a:t>GIẢI PHÁP</a:t>
            </a:r>
            <a:endParaRPr lang="en-US" sz="1100" dirty="0"/>
          </a:p>
        </p:txBody>
      </p:sp>
      <p:sp>
        <p:nvSpPr>
          <p:cNvPr id="23" name="Text 17"/>
          <p:cNvSpPr/>
          <p:nvPr/>
        </p:nvSpPr>
        <p:spPr>
          <a:xfrm>
            <a:off x="7635240" y="4645152"/>
            <a:ext cx="3703320" cy="1371600"/>
          </a:xfrm>
          <a:prstGeom prst="rect">
            <a:avLst/>
          </a:prstGeom>
          <a:noFill/>
          <a:ln/>
        </p:spPr>
        <p:txBody>
          <a:bodyPr wrap="square" lIns="0" tIns="0" rIns="0" bIns="0" rtlCol="0" anchor="ctr"/>
          <a:lstStyle/>
          <a:p>
            <a:pPr marL="0" indent="0">
              <a:lnSpc>
                <a:spcPct val="120000"/>
              </a:lnSpc>
              <a:buNone/>
            </a:pPr>
            <a:r>
              <a:rPr lang="en-US" sz="1200" dirty="0">
                <a:solidFill>
                  <a:srgbClr val="16232E"/>
                </a:solidFill>
                <a:latin typeface="Calibri" pitchFamily="34" charset="0"/>
                <a:ea typeface="Calibri" pitchFamily="34" charset="-122"/>
                <a:cs typeface="Calibri" pitchFamily="34" charset="-120"/>
              </a:rPr>
              <a:t>Tiêm Header định dạng 4-byte bằng thư viện struct vào trước mỗi gói tin.</a:t>
            </a:r>
            <a:endParaRPr lang="en-US" sz="1200" dirty="0"/>
          </a:p>
        </p:txBody>
      </p:sp>
      <p:sp>
        <p:nvSpPr>
          <p:cNvPr id="24" name="Text 1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9052560" y="2377440"/>
            <a:ext cx="5669280" cy="5669280"/>
          </a:xfrm>
          <a:prstGeom prst="ellipse">
            <a:avLst/>
          </a:prstGeom>
          <a:solidFill>
            <a:srgbClr val="0F3D5F"/>
          </a:solidFill>
          <a:ln/>
        </p:spPr>
        <p:txBody>
          <a:bodyPr/>
          <a:lstStyle/>
          <a:p>
            <a:endParaRPr lang="en-US"/>
          </a:p>
        </p:txBody>
      </p:sp>
      <p:sp>
        <p:nvSpPr>
          <p:cNvPr id="3" name="Text 1"/>
          <p:cNvSpPr/>
          <p:nvPr/>
        </p:nvSpPr>
        <p:spPr>
          <a:xfrm>
            <a:off x="822960" y="1371600"/>
            <a:ext cx="3657600" cy="2011680"/>
          </a:xfrm>
          <a:prstGeom prst="rect">
            <a:avLst/>
          </a:prstGeom>
          <a:noFill/>
          <a:ln/>
        </p:spPr>
        <p:txBody>
          <a:bodyPr wrap="square" lIns="0" tIns="0" rIns="0" bIns="0" rtlCol="0" anchor="ctr"/>
          <a:lstStyle/>
          <a:p>
            <a:pPr marL="0" indent="0">
              <a:buNone/>
            </a:pPr>
            <a:r>
              <a:rPr lang="en-US" sz="11000" b="1" dirty="0">
                <a:solidFill>
                  <a:srgbClr val="163B57"/>
                </a:solidFill>
                <a:latin typeface="Arial" pitchFamily="34" charset="0"/>
                <a:ea typeface="Arial" pitchFamily="34" charset="-122"/>
                <a:cs typeface="Arial" pitchFamily="34" charset="-120"/>
              </a:rPr>
              <a:t>6</a:t>
            </a:r>
            <a:endParaRPr lang="en-US" sz="11000" dirty="0"/>
          </a:p>
        </p:txBody>
      </p:sp>
      <p:sp>
        <p:nvSpPr>
          <p:cNvPr id="4" name="Shape 2"/>
          <p:cNvSpPr/>
          <p:nvPr/>
        </p:nvSpPr>
        <p:spPr>
          <a:xfrm>
            <a:off x="868680" y="3520440"/>
            <a:ext cx="868680" cy="86868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94537" y="3746297"/>
            <a:ext cx="416966" cy="416966"/>
          </a:xfrm>
          <a:prstGeom prst="rect">
            <a:avLst/>
          </a:prstGeom>
        </p:spPr>
      </p:pic>
      <p:sp>
        <p:nvSpPr>
          <p:cNvPr id="6" name="Text 3"/>
          <p:cNvSpPr/>
          <p:nvPr/>
        </p:nvSpPr>
        <p:spPr>
          <a:xfrm>
            <a:off x="1965960" y="3566160"/>
            <a:ext cx="5486400" cy="365760"/>
          </a:xfrm>
          <a:prstGeom prst="rect">
            <a:avLst/>
          </a:prstGeom>
          <a:noFill/>
          <a:ln/>
        </p:spPr>
        <p:txBody>
          <a:bodyPr wrap="square" lIns="0" tIns="0" rIns="0" bIns="0" rtlCol="0" anchor="ctr"/>
          <a:lstStyle/>
          <a:p>
            <a:pPr marL="0" indent="0">
              <a:buNone/>
            </a:pPr>
            <a:r>
              <a:rPr lang="en-US" sz="1400" b="1" kern="0" spc="200" dirty="0">
                <a:solidFill>
                  <a:srgbClr val="3FE0C5"/>
                </a:solidFill>
                <a:latin typeface="Calibri" pitchFamily="34" charset="0"/>
                <a:ea typeface="Calibri" pitchFamily="34" charset="-122"/>
                <a:cs typeface="Calibri" pitchFamily="34" charset="-120"/>
              </a:rPr>
              <a:t>CHƯƠNG 6</a:t>
            </a:r>
            <a:endParaRPr lang="en-US" sz="1400" dirty="0"/>
          </a:p>
        </p:txBody>
      </p:sp>
      <p:sp>
        <p:nvSpPr>
          <p:cNvPr id="7" name="Text 4"/>
          <p:cNvSpPr/>
          <p:nvPr/>
        </p:nvSpPr>
        <p:spPr>
          <a:xfrm>
            <a:off x="1965960" y="3931920"/>
            <a:ext cx="8686800" cy="10058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KẾT LUẬN &amp; HƯỚNG PHÁT TRIỂN</a:t>
            </a:r>
            <a:endParaRPr lang="en-US" sz="3200" dirty="0"/>
          </a:p>
        </p:txBody>
      </p:sp>
      <p:sp>
        <p:nvSpPr>
          <p:cNvPr id="8" name="Text 5"/>
          <p:cNvSpPr/>
          <p:nvPr/>
        </p:nvSpPr>
        <p:spPr>
          <a:xfrm>
            <a:off x="1965960" y="5029200"/>
            <a:ext cx="850392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Thành tựu đạt được</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Hạn chế</a:t>
            </a:r>
            <a:endParaRPr lang="en-US" sz="1400" dirty="0"/>
          </a:p>
          <a:p>
            <a:pPr marL="342900" indent="-342900">
              <a:spcAft>
                <a:spcPts val="600"/>
              </a:spcAft>
              <a:buSzPct val="100000"/>
              <a:buChar char="•"/>
            </a:pPr>
            <a:r>
              <a:rPr lang="en-US" sz="1400" dirty="0">
                <a:solidFill>
                  <a:srgbClr val="C7DAE4"/>
                </a:solidFill>
                <a:latin typeface="Calibri" pitchFamily="34" charset="0"/>
                <a:ea typeface="Calibri" pitchFamily="34" charset="-122"/>
                <a:cs typeface="Calibri" pitchFamily="34" charset="-120"/>
              </a:rPr>
              <a:t>Hướng phát triển</a:t>
            </a:r>
            <a:endParaRPr lang="en-US" sz="1400" dirty="0"/>
          </a:p>
        </p:txBody>
      </p:sp>
      <p:sp>
        <p:nvSpPr>
          <p:cNvPr id="9" name="Text 6"/>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0"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6.1 &amp; 6.2  ·  KẾT LUẬN</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Thành tựu đạt được và hạn chế</a:t>
            </a:r>
            <a:endParaRPr lang="en-US" sz="3000" dirty="0"/>
          </a:p>
        </p:txBody>
      </p:sp>
      <p:sp>
        <p:nvSpPr>
          <p:cNvPr id="4" name="Shape 2"/>
          <p:cNvSpPr/>
          <p:nvPr/>
        </p:nvSpPr>
        <p:spPr>
          <a:xfrm>
            <a:off x="640080" y="1783080"/>
            <a:ext cx="5257800" cy="4160520"/>
          </a:xfrm>
          <a:prstGeom prst="roundRect">
            <a:avLst>
              <a:gd name="adj" fmla="val 1978"/>
            </a:avLst>
          </a:prstGeom>
          <a:solidFill>
            <a:srgbClr val="0F3D5F"/>
          </a:solidFill>
          <a:ln/>
          <a:effectLst>
            <a:outerShdw blurRad="101600" dist="38100" dir="5400000" algn="bl" rotWithShape="0">
              <a:srgbClr val="0A2A43">
                <a:alpha val="10000"/>
              </a:srgbClr>
            </a:outerShdw>
          </a:effectLst>
        </p:spPr>
        <p:txBody>
          <a:bodyPr/>
          <a:lstStyle/>
          <a:p>
            <a:endParaRPr lang="en-US"/>
          </a:p>
        </p:txBody>
      </p:sp>
      <p:sp>
        <p:nvSpPr>
          <p:cNvPr id="5" name="Text 3"/>
          <p:cNvSpPr/>
          <p:nvPr/>
        </p:nvSpPr>
        <p:spPr>
          <a:xfrm>
            <a:off x="914400" y="2011680"/>
            <a:ext cx="4572000" cy="320040"/>
          </a:xfrm>
          <a:prstGeom prst="rect">
            <a:avLst/>
          </a:prstGeom>
          <a:noFill/>
          <a:ln/>
        </p:spPr>
        <p:txBody>
          <a:bodyPr wrap="square" lIns="0" tIns="0" rIns="0" bIns="0" rtlCol="0" anchor="ctr"/>
          <a:lstStyle/>
          <a:p>
            <a:pPr marL="0" indent="0">
              <a:buNone/>
            </a:pPr>
            <a:r>
              <a:rPr lang="en-US" sz="1250" b="1" kern="0" spc="100" dirty="0">
                <a:solidFill>
                  <a:srgbClr val="3FE0C5"/>
                </a:solidFill>
                <a:latin typeface="Calibri" pitchFamily="34" charset="0"/>
                <a:ea typeface="Calibri" pitchFamily="34" charset="-122"/>
                <a:cs typeface="Calibri" pitchFamily="34" charset="-120"/>
              </a:rPr>
              <a:t>THÀNH TỰU ĐẠT ĐƯỢC</a:t>
            </a:r>
            <a:endParaRPr lang="en-US" sz="1250" dirty="0"/>
          </a:p>
        </p:txBody>
      </p:sp>
      <p:sp>
        <p:nvSpPr>
          <p:cNvPr id="6" name="Text 4"/>
          <p:cNvSpPr/>
          <p:nvPr/>
        </p:nvSpPr>
        <p:spPr>
          <a:xfrm>
            <a:off x="914400" y="2468880"/>
            <a:ext cx="4709160" cy="1828800"/>
          </a:xfrm>
          <a:prstGeom prst="rect">
            <a:avLst/>
          </a:prstGeom>
          <a:noFill/>
          <a:ln/>
        </p:spPr>
        <p:txBody>
          <a:bodyPr wrap="square" lIns="0" tIns="0" rIns="0" bIns="0" rtlCol="0" anchor="ctr"/>
          <a:lstStyle/>
          <a:p>
            <a:pPr marL="0" indent="0">
              <a:lnSpc>
                <a:spcPct val="125000"/>
              </a:lnSpc>
              <a:buNone/>
            </a:pPr>
            <a:r>
              <a:rPr lang="en-US" sz="1350" dirty="0">
                <a:solidFill>
                  <a:srgbClr val="D7E7EF"/>
                </a:solidFill>
                <a:latin typeface="Calibri" pitchFamily="34" charset="0"/>
                <a:ea typeface="Calibri" pitchFamily="34" charset="-122"/>
                <a:cs typeface="Calibri" pitchFamily="34" charset="-120"/>
              </a:rPr>
              <a:t>Nhóm xây dựng thành công một kiến trúc Client–Server mạnh mẽ, chứng minh tính hiệu quả của mô hình Đa luồng và tính toàn vẹn của giao thức TCP. Toàn bộ logic giao diện được phân tách rõ ràng với tầng xử lý mạng.</a:t>
            </a:r>
            <a:endParaRPr lang="en-US" sz="1350" dirty="0"/>
          </a:p>
        </p:txBody>
      </p:sp>
      <p:sp>
        <p:nvSpPr>
          <p:cNvPr id="7" name="Shape 5"/>
          <p:cNvSpPr/>
          <p:nvPr/>
        </p:nvSpPr>
        <p:spPr>
          <a:xfrm>
            <a:off x="914400" y="4480560"/>
            <a:ext cx="365760" cy="365760"/>
          </a:xfrm>
          <a:prstGeom prst="ellipse">
            <a:avLst/>
          </a:prstGeom>
          <a:solidFill>
            <a:srgbClr val="3FE0C5"/>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09498" y="4575658"/>
            <a:ext cx="175565" cy="175565"/>
          </a:xfrm>
          <a:prstGeom prst="rect">
            <a:avLst/>
          </a:prstGeom>
        </p:spPr>
      </p:pic>
      <p:sp>
        <p:nvSpPr>
          <p:cNvPr id="9" name="Text 6"/>
          <p:cNvSpPr/>
          <p:nvPr/>
        </p:nvSpPr>
        <p:spPr>
          <a:xfrm>
            <a:off x="1417320" y="44988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Multi-threading ổn định</a:t>
            </a:r>
            <a:endParaRPr lang="en-US" sz="1250" dirty="0"/>
          </a:p>
        </p:txBody>
      </p:sp>
      <p:sp>
        <p:nvSpPr>
          <p:cNvPr id="10" name="Shape 7"/>
          <p:cNvSpPr/>
          <p:nvPr/>
        </p:nvSpPr>
        <p:spPr>
          <a:xfrm>
            <a:off x="914400" y="4937760"/>
            <a:ext cx="365760" cy="365760"/>
          </a:xfrm>
          <a:prstGeom prst="ellipse">
            <a:avLst/>
          </a:prstGeom>
          <a:solidFill>
            <a:srgbClr val="3FE0C5"/>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1009498" y="5032858"/>
            <a:ext cx="175565" cy="175565"/>
          </a:xfrm>
          <a:prstGeom prst="rect">
            <a:avLst/>
          </a:prstGeom>
        </p:spPr>
      </p:pic>
      <p:sp>
        <p:nvSpPr>
          <p:cNvPr id="12" name="Text 8"/>
          <p:cNvSpPr/>
          <p:nvPr/>
        </p:nvSpPr>
        <p:spPr>
          <a:xfrm>
            <a:off x="1417320" y="49560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Toàn vẹn dữ liệu TCP</a:t>
            </a:r>
            <a:endParaRPr lang="en-US" sz="1250" dirty="0"/>
          </a:p>
        </p:txBody>
      </p:sp>
      <p:sp>
        <p:nvSpPr>
          <p:cNvPr id="13" name="Shape 9"/>
          <p:cNvSpPr/>
          <p:nvPr/>
        </p:nvSpPr>
        <p:spPr>
          <a:xfrm>
            <a:off x="914400" y="5394960"/>
            <a:ext cx="365760" cy="365760"/>
          </a:xfrm>
          <a:prstGeom prst="ellipse">
            <a:avLst/>
          </a:prstGeom>
          <a:solidFill>
            <a:srgbClr val="3FE0C5"/>
          </a:solidFill>
          <a:ln/>
        </p:spPr>
        <p:txBody>
          <a:bodyPr/>
          <a:lstStyle/>
          <a:p>
            <a:endParaRPr lang="en-US"/>
          </a:p>
        </p:txBody>
      </p:sp>
      <p:pic>
        <p:nvPicPr>
          <p:cNvPr id="14" name="Image 2" descr="preencoded.png"/>
          <p:cNvPicPr>
            <a:picLocks noChangeAspect="1"/>
          </p:cNvPicPr>
          <p:nvPr/>
        </p:nvPicPr>
        <p:blipFill>
          <a:blip r:embed="rId3"/>
          <a:stretch>
            <a:fillRect/>
          </a:stretch>
        </p:blipFill>
        <p:spPr>
          <a:xfrm>
            <a:off x="1009498" y="5490058"/>
            <a:ext cx="175565" cy="175565"/>
          </a:xfrm>
          <a:prstGeom prst="rect">
            <a:avLst/>
          </a:prstGeom>
        </p:spPr>
      </p:pic>
      <p:sp>
        <p:nvSpPr>
          <p:cNvPr id="15" name="Text 10"/>
          <p:cNvSpPr/>
          <p:nvPr/>
        </p:nvSpPr>
        <p:spPr>
          <a:xfrm>
            <a:off x="1417320" y="5413248"/>
            <a:ext cx="42062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UI / Network tách biệt</a:t>
            </a:r>
            <a:endParaRPr lang="en-US" sz="1250" dirty="0"/>
          </a:p>
        </p:txBody>
      </p:sp>
      <p:sp>
        <p:nvSpPr>
          <p:cNvPr id="16" name="Shape 11"/>
          <p:cNvSpPr/>
          <p:nvPr/>
        </p:nvSpPr>
        <p:spPr>
          <a:xfrm>
            <a:off x="6126480" y="1783080"/>
            <a:ext cx="5440680" cy="4160520"/>
          </a:xfrm>
          <a:prstGeom prst="roundRect">
            <a:avLst>
              <a:gd name="adj" fmla="val 1978"/>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7" name="Text 12"/>
          <p:cNvSpPr/>
          <p:nvPr/>
        </p:nvSpPr>
        <p:spPr>
          <a:xfrm>
            <a:off x="6400800" y="2011680"/>
            <a:ext cx="4572000" cy="320040"/>
          </a:xfrm>
          <a:prstGeom prst="rect">
            <a:avLst/>
          </a:prstGeom>
          <a:noFill/>
          <a:ln/>
        </p:spPr>
        <p:txBody>
          <a:bodyPr wrap="square" lIns="0" tIns="0" rIns="0" bIns="0" rtlCol="0" anchor="ctr"/>
          <a:lstStyle/>
          <a:p>
            <a:pPr marL="0" indent="0">
              <a:buNone/>
            </a:pPr>
            <a:r>
              <a:rPr lang="en-US" sz="1250" b="1" kern="0" spc="100" dirty="0">
                <a:solidFill>
                  <a:srgbClr val="E0703A"/>
                </a:solidFill>
                <a:latin typeface="Calibri" pitchFamily="34" charset="0"/>
                <a:ea typeface="Calibri" pitchFamily="34" charset="-122"/>
                <a:cs typeface="Calibri" pitchFamily="34" charset="-120"/>
              </a:rPr>
              <a:t>HẠN CHẾ</a:t>
            </a:r>
            <a:endParaRPr lang="en-US" sz="1250" dirty="0"/>
          </a:p>
        </p:txBody>
      </p:sp>
      <p:sp>
        <p:nvSpPr>
          <p:cNvPr id="18" name="Text 13"/>
          <p:cNvSpPr/>
          <p:nvPr/>
        </p:nvSpPr>
        <p:spPr>
          <a:xfrm>
            <a:off x="6400800" y="2468880"/>
            <a:ext cx="4846320" cy="320040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Dữ liệu truyền dạng Cleartext JSON, dễ bị Packet Sniffing (Wireshark) đọc trộm nội dung.</a:t>
            </a:r>
            <a:endParaRPr lang="en-US" sz="1350" dirty="0"/>
          </a:p>
          <a:p>
            <a:pPr marL="342900" indent="-342900">
              <a:lnSpc>
                <a:spcPct val="125000"/>
              </a:lnSpc>
              <a:buSzPct val="100000"/>
              <a:buChar char="•"/>
            </a:pPr>
            <a:r>
              <a:rPr lang="en-US" sz="1350" dirty="0">
                <a:solidFill>
                  <a:srgbClr val="16232E"/>
                </a:solidFill>
                <a:latin typeface="Calibri" pitchFamily="34" charset="0"/>
                <a:ea typeface="Calibri" pitchFamily="34" charset="-122"/>
                <a:cs typeface="Calibri" pitchFamily="34" charset="-120"/>
              </a:rPr>
              <a:t>Dữ liệu chỉ sống trên RAM của Server — khi tắt Server, toàn bộ lịch sử chat/nhóm sẽ mất do thiếu cơ sở dữ liệu quan hệ.</a:t>
            </a:r>
            <a:endParaRPr lang="en-US" sz="1350" dirty="0"/>
          </a:p>
        </p:txBody>
      </p:sp>
      <p:sp>
        <p:nvSpPr>
          <p:cNvPr id="19" name="Text 1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8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lIns="0" tIns="0" rIns="0" bIns="0" rtlCol="0" anchor="ctr"/>
          <a:lstStyle/>
          <a:p>
            <a:pPr marL="0" indent="0">
              <a:buNone/>
            </a:pPr>
            <a:r>
              <a:rPr lang="en-US" sz="1300" b="1" kern="0" spc="200" dirty="0">
                <a:solidFill>
                  <a:srgbClr val="0E9A85"/>
                </a:solidFill>
                <a:latin typeface="Calibri" pitchFamily="34" charset="0"/>
                <a:ea typeface="Calibri" pitchFamily="34" charset="-122"/>
                <a:cs typeface="Calibri" pitchFamily="34" charset="-120"/>
              </a:rPr>
              <a:t>6.3  ·  KẾT LUẬN</a:t>
            </a:r>
            <a:endParaRPr lang="en-US" sz="1300" dirty="0"/>
          </a:p>
        </p:txBody>
      </p:sp>
      <p:sp>
        <p:nvSpPr>
          <p:cNvPr id="3" name="Text 1"/>
          <p:cNvSpPr/>
          <p:nvPr/>
        </p:nvSpPr>
        <p:spPr>
          <a:xfrm>
            <a:off x="640080" y="713232"/>
            <a:ext cx="10789920" cy="822960"/>
          </a:xfrm>
          <a:prstGeom prst="rect">
            <a:avLst/>
          </a:prstGeom>
          <a:noFill/>
          <a:ln/>
        </p:spPr>
        <p:txBody>
          <a:bodyPr wrap="square" lIns="0" tIns="0" rIns="0" bIns="0" rtlCol="0" anchor="ctr"/>
          <a:lstStyle/>
          <a:p>
            <a:pPr marL="0" indent="0">
              <a:buNone/>
            </a:pPr>
            <a:r>
              <a:rPr lang="en-US" sz="3000" b="1" dirty="0">
                <a:solidFill>
                  <a:srgbClr val="16232E"/>
                </a:solidFill>
                <a:latin typeface="Arial" pitchFamily="34" charset="0"/>
                <a:ea typeface="Arial" pitchFamily="34" charset="-122"/>
                <a:cs typeface="Arial" pitchFamily="34" charset="-120"/>
              </a:rPr>
              <a:t>Hướng phát triển trong tương lai</a:t>
            </a:r>
            <a:endParaRPr lang="en-US" sz="3000" dirty="0"/>
          </a:p>
        </p:txBody>
      </p:sp>
      <p:sp>
        <p:nvSpPr>
          <p:cNvPr id="4" name="Shape 2"/>
          <p:cNvSpPr/>
          <p:nvPr/>
        </p:nvSpPr>
        <p:spPr>
          <a:xfrm>
            <a:off x="64008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5" name="Shape 3"/>
          <p:cNvSpPr/>
          <p:nvPr/>
        </p:nvSpPr>
        <p:spPr>
          <a:xfrm>
            <a:off x="914400" y="2286000"/>
            <a:ext cx="731520" cy="731520"/>
          </a:xfrm>
          <a:prstGeom prst="ellipse">
            <a:avLst/>
          </a:prstGeom>
          <a:solidFill>
            <a:srgbClr val="D8F3E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04595" y="2476195"/>
            <a:ext cx="351130" cy="351130"/>
          </a:xfrm>
          <a:prstGeom prst="rect">
            <a:avLst/>
          </a:prstGeom>
        </p:spPr>
      </p:pic>
      <p:sp>
        <p:nvSpPr>
          <p:cNvPr id="7" name="Text 4"/>
          <p:cNvSpPr/>
          <p:nvPr/>
        </p:nvSpPr>
        <p:spPr>
          <a:xfrm>
            <a:off x="914400" y="3200400"/>
            <a:ext cx="2880360" cy="59436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Bảo mật TLS/SSL</a:t>
            </a:r>
            <a:endParaRPr lang="en-US" sz="1600" dirty="0"/>
          </a:p>
        </p:txBody>
      </p:sp>
      <p:sp>
        <p:nvSpPr>
          <p:cNvPr id="8" name="Text 5"/>
          <p:cNvSpPr/>
          <p:nvPr/>
        </p:nvSpPr>
        <p:spPr>
          <a:xfrm>
            <a:off x="91440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5B7182"/>
                </a:solidFill>
                <a:latin typeface="Calibri" pitchFamily="34" charset="0"/>
                <a:ea typeface="Calibri" pitchFamily="34" charset="-122"/>
                <a:cs typeface="Calibri" pitchFamily="34" charset="-120"/>
              </a:rPr>
              <a:t>Tích hợp chứng chỉ mã hoá TLS/SSL để bọc lớp bảo mật cho gói tin TCP.</a:t>
            </a:r>
            <a:endParaRPr lang="en-US" sz="1250" dirty="0"/>
          </a:p>
        </p:txBody>
      </p:sp>
      <p:sp>
        <p:nvSpPr>
          <p:cNvPr id="9" name="Shape 6"/>
          <p:cNvSpPr/>
          <p:nvPr/>
        </p:nvSpPr>
        <p:spPr>
          <a:xfrm>
            <a:off x="4389120" y="1965960"/>
            <a:ext cx="3429000" cy="3977640"/>
          </a:xfrm>
          <a:prstGeom prst="roundRect">
            <a:avLst>
              <a:gd name="adj" fmla="val 2400"/>
            </a:avLst>
          </a:prstGeom>
          <a:solidFill>
            <a:srgbClr val="0A2A43"/>
          </a:solidFill>
          <a:ln/>
          <a:effectLst>
            <a:outerShdw blurRad="101600" dist="38100" dir="5400000" algn="bl" rotWithShape="0">
              <a:srgbClr val="0A2A43">
                <a:alpha val="10000"/>
              </a:srgbClr>
            </a:outerShdw>
          </a:effectLst>
        </p:spPr>
        <p:txBody>
          <a:bodyPr/>
          <a:lstStyle/>
          <a:p>
            <a:endParaRPr lang="en-US"/>
          </a:p>
        </p:txBody>
      </p:sp>
      <p:sp>
        <p:nvSpPr>
          <p:cNvPr id="10" name="Shape 7"/>
          <p:cNvSpPr/>
          <p:nvPr/>
        </p:nvSpPr>
        <p:spPr>
          <a:xfrm>
            <a:off x="4663440" y="2286000"/>
            <a:ext cx="731520" cy="731520"/>
          </a:xfrm>
          <a:prstGeom prst="ellipse">
            <a:avLst/>
          </a:prstGeom>
          <a:solidFill>
            <a:srgbClr val="0F3D5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853635" y="2476195"/>
            <a:ext cx="351130" cy="351130"/>
          </a:xfrm>
          <a:prstGeom prst="rect">
            <a:avLst/>
          </a:prstGeom>
        </p:spPr>
      </p:pic>
      <p:sp>
        <p:nvSpPr>
          <p:cNvPr id="12" name="Text 8"/>
          <p:cNvSpPr/>
          <p:nvPr/>
        </p:nvSpPr>
        <p:spPr>
          <a:xfrm>
            <a:off x="4663440" y="3200400"/>
            <a:ext cx="2880360" cy="5943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Cơ sở dữ liệu</a:t>
            </a:r>
            <a:endParaRPr lang="en-US" sz="1600" dirty="0"/>
          </a:p>
        </p:txBody>
      </p:sp>
      <p:sp>
        <p:nvSpPr>
          <p:cNvPr id="13" name="Text 9"/>
          <p:cNvSpPr/>
          <p:nvPr/>
        </p:nvSpPr>
        <p:spPr>
          <a:xfrm>
            <a:off x="466344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C7DAE4"/>
                </a:solidFill>
                <a:latin typeface="Calibri" pitchFamily="34" charset="0"/>
                <a:ea typeface="Calibri" pitchFamily="34" charset="-122"/>
                <a:cs typeface="Calibri" pitchFamily="34" charset="-120"/>
              </a:rPr>
              <a:t>Kết nối hệ thống với SQLite hoặc MongoDB để lưu trữ dữ liệu bền vững.</a:t>
            </a:r>
            <a:endParaRPr lang="en-US" sz="1250" dirty="0"/>
          </a:p>
        </p:txBody>
      </p:sp>
      <p:sp>
        <p:nvSpPr>
          <p:cNvPr id="14" name="Shape 10"/>
          <p:cNvSpPr/>
          <p:nvPr/>
        </p:nvSpPr>
        <p:spPr>
          <a:xfrm>
            <a:off x="8138160" y="1965960"/>
            <a:ext cx="3429000" cy="3977640"/>
          </a:xfrm>
          <a:prstGeom prst="roundRect">
            <a:avLst>
              <a:gd name="adj" fmla="val 2400"/>
            </a:avLst>
          </a:prstGeom>
          <a:solidFill>
            <a:srgbClr val="FFFFFF"/>
          </a:solidFill>
          <a:ln/>
          <a:effectLst>
            <a:outerShdw blurRad="101600" dist="38100" dir="5400000" algn="bl" rotWithShape="0">
              <a:srgbClr val="0A2A43">
                <a:alpha val="10000"/>
              </a:srgbClr>
            </a:outerShdw>
          </a:effectLst>
        </p:spPr>
        <p:txBody>
          <a:bodyPr/>
          <a:lstStyle/>
          <a:p>
            <a:endParaRPr lang="en-US"/>
          </a:p>
        </p:txBody>
      </p:sp>
      <p:sp>
        <p:nvSpPr>
          <p:cNvPr id="15" name="Shape 11"/>
          <p:cNvSpPr/>
          <p:nvPr/>
        </p:nvSpPr>
        <p:spPr>
          <a:xfrm>
            <a:off x="8412480" y="2286000"/>
            <a:ext cx="731520" cy="731520"/>
          </a:xfrm>
          <a:prstGeom prst="ellipse">
            <a:avLst/>
          </a:prstGeom>
          <a:solidFill>
            <a:srgbClr val="D8F3EE"/>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602675" y="2476195"/>
            <a:ext cx="351130" cy="351130"/>
          </a:xfrm>
          <a:prstGeom prst="rect">
            <a:avLst/>
          </a:prstGeom>
        </p:spPr>
      </p:pic>
      <p:sp>
        <p:nvSpPr>
          <p:cNvPr id="17" name="Text 12"/>
          <p:cNvSpPr/>
          <p:nvPr/>
        </p:nvSpPr>
        <p:spPr>
          <a:xfrm>
            <a:off x="8412480" y="3200400"/>
            <a:ext cx="2880360" cy="594360"/>
          </a:xfrm>
          <a:prstGeom prst="rect">
            <a:avLst/>
          </a:prstGeom>
          <a:noFill/>
          <a:ln/>
        </p:spPr>
        <p:txBody>
          <a:bodyPr wrap="square" lIns="0" tIns="0" rIns="0" bIns="0" rtlCol="0" anchor="ctr"/>
          <a:lstStyle/>
          <a:p>
            <a:pPr marL="0" indent="0">
              <a:buNone/>
            </a:pPr>
            <a:r>
              <a:rPr lang="en-US" sz="1600" b="1" dirty="0">
                <a:solidFill>
                  <a:srgbClr val="16232E"/>
                </a:solidFill>
                <a:latin typeface="Arial" pitchFamily="34" charset="0"/>
                <a:ea typeface="Arial" pitchFamily="34" charset="-122"/>
                <a:cs typeface="Arial" pitchFamily="34" charset="-120"/>
              </a:rPr>
              <a:t>Kiến trúc Async I/O</a:t>
            </a:r>
            <a:endParaRPr lang="en-US" sz="1600" dirty="0"/>
          </a:p>
        </p:txBody>
      </p:sp>
      <p:sp>
        <p:nvSpPr>
          <p:cNvPr id="18" name="Text 13"/>
          <p:cNvSpPr/>
          <p:nvPr/>
        </p:nvSpPr>
        <p:spPr>
          <a:xfrm>
            <a:off x="8412480" y="3840480"/>
            <a:ext cx="2880360" cy="1920240"/>
          </a:xfrm>
          <a:prstGeom prst="rect">
            <a:avLst/>
          </a:prstGeom>
          <a:noFill/>
          <a:ln/>
        </p:spPr>
        <p:txBody>
          <a:bodyPr wrap="square" lIns="0" tIns="0" rIns="0" bIns="0" rtlCol="0" anchor="ctr"/>
          <a:lstStyle/>
          <a:p>
            <a:pPr marL="0" indent="0">
              <a:lnSpc>
                <a:spcPct val="120000"/>
              </a:lnSpc>
              <a:buNone/>
            </a:pPr>
            <a:r>
              <a:rPr lang="en-US" sz="1250" dirty="0">
                <a:solidFill>
                  <a:srgbClr val="5B7182"/>
                </a:solidFill>
                <a:latin typeface="Calibri" pitchFamily="34" charset="0"/>
                <a:ea typeface="Calibri" pitchFamily="34" charset="-122"/>
                <a:cs typeface="Calibri" pitchFamily="34" charset="-120"/>
              </a:rPr>
              <a:t>Chuyển từ Multi-threading sang asyncio để nâng cao năng lực chịu tải hàng ngàn kết nối với RAM tối thiểu.</a:t>
            </a:r>
            <a:endParaRPr lang="en-US" sz="1250" dirty="0"/>
          </a:p>
        </p:txBody>
      </p:sp>
      <p:sp>
        <p:nvSpPr>
          <p:cNvPr id="19" name="Text 14"/>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5B7182"/>
                </a:solidFill>
                <a:latin typeface="Calibri" pitchFamily="34" charset="0"/>
                <a:ea typeface="Calibri" pitchFamily="34" charset="-122"/>
                <a:cs typeface="Calibri" pitchFamily="34" charset="-120"/>
              </a:rPr>
              <a:t>CHAT TCP  |  NHÓM 12</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B71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A43"/>
        </a:solidFill>
        <a:effectLst/>
      </p:bgPr>
    </p:bg>
    <p:spTree>
      <p:nvGrpSpPr>
        <p:cNvPr id="1" name=""/>
        <p:cNvGrpSpPr/>
        <p:nvPr/>
      </p:nvGrpSpPr>
      <p:grpSpPr>
        <a:xfrm>
          <a:off x="0" y="0"/>
          <a:ext cx="0" cy="0"/>
          <a:chOff x="0" y="0"/>
          <a:chExt cx="0" cy="0"/>
        </a:xfrm>
      </p:grpSpPr>
      <p:sp>
        <p:nvSpPr>
          <p:cNvPr id="2" name="Shape 0"/>
          <p:cNvSpPr/>
          <p:nvPr/>
        </p:nvSpPr>
        <p:spPr>
          <a:xfrm>
            <a:off x="-2194560" y="-2377440"/>
            <a:ext cx="5943600" cy="5943600"/>
          </a:xfrm>
          <a:prstGeom prst="ellipse">
            <a:avLst/>
          </a:prstGeom>
          <a:solidFill>
            <a:srgbClr val="0F3D5F"/>
          </a:solidFill>
          <a:ln/>
        </p:spPr>
        <p:txBody>
          <a:bodyPr/>
          <a:lstStyle/>
          <a:p>
            <a:endParaRPr lang="en-US"/>
          </a:p>
        </p:txBody>
      </p:sp>
      <p:sp>
        <p:nvSpPr>
          <p:cNvPr id="3" name="Shape 1"/>
          <p:cNvSpPr/>
          <p:nvPr/>
        </p:nvSpPr>
        <p:spPr>
          <a:xfrm>
            <a:off x="8961120" y="3108960"/>
            <a:ext cx="5486400" cy="5486400"/>
          </a:xfrm>
          <a:prstGeom prst="ellipse">
            <a:avLst/>
          </a:prstGeom>
          <a:solidFill>
            <a:srgbClr val="0F3D5F"/>
          </a:solidFill>
          <a:ln/>
        </p:spPr>
        <p:txBody>
          <a:bodyPr/>
          <a:lstStyle/>
          <a:p>
            <a:endParaRPr lang="en-US"/>
          </a:p>
        </p:txBody>
      </p:sp>
      <p:sp>
        <p:nvSpPr>
          <p:cNvPr id="4" name="Shape 2"/>
          <p:cNvSpPr/>
          <p:nvPr/>
        </p:nvSpPr>
        <p:spPr>
          <a:xfrm>
            <a:off x="5591556" y="1051560"/>
            <a:ext cx="1005840" cy="1005840"/>
          </a:xfrm>
          <a:prstGeom prst="ellipse">
            <a:avLst/>
          </a:prstGeom>
          <a:solidFill>
            <a:srgbClr val="0F3D5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853074" y="1313078"/>
            <a:ext cx="482803" cy="482803"/>
          </a:xfrm>
          <a:prstGeom prst="rect">
            <a:avLst/>
          </a:prstGeom>
        </p:spPr>
      </p:pic>
      <p:sp>
        <p:nvSpPr>
          <p:cNvPr id="6" name="Text 3"/>
          <p:cNvSpPr/>
          <p:nvPr/>
        </p:nvSpPr>
        <p:spPr>
          <a:xfrm>
            <a:off x="640080" y="2331720"/>
            <a:ext cx="10908792"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Cảm ơn thầy và các bạn đã lắng nghe!</a:t>
            </a:r>
            <a:endParaRPr lang="en-US" sz="3000" dirty="0"/>
          </a:p>
        </p:txBody>
      </p:sp>
      <p:sp>
        <p:nvSpPr>
          <p:cNvPr id="7" name="Text 4"/>
          <p:cNvSpPr/>
          <p:nvPr/>
        </p:nvSpPr>
        <p:spPr>
          <a:xfrm>
            <a:off x="640080" y="3063240"/>
            <a:ext cx="10908792" cy="457200"/>
          </a:xfrm>
          <a:prstGeom prst="rect">
            <a:avLst/>
          </a:prstGeom>
          <a:noFill/>
          <a:ln/>
        </p:spPr>
        <p:txBody>
          <a:bodyPr wrap="square" lIns="0" tIns="0" rIns="0" bIns="0" rtlCol="0" anchor="ctr"/>
          <a:lstStyle/>
          <a:p>
            <a:pPr marL="0" indent="0" algn="ctr">
              <a:buNone/>
            </a:pPr>
            <a:r>
              <a:rPr lang="en-US" sz="1400" dirty="0">
                <a:solidFill>
                  <a:srgbClr val="9FB8C8"/>
                </a:solidFill>
                <a:latin typeface="Calibri" pitchFamily="34" charset="0"/>
                <a:ea typeface="Calibri" pitchFamily="34" charset="-122"/>
                <a:cs typeface="Calibri" pitchFamily="34" charset="-120"/>
              </a:rPr>
              <a:t>Lập trình ứng dụng Chat (GUI) via TCP  —  Nhóm 12  —  Lập trình mạng</a:t>
            </a:r>
            <a:endParaRPr lang="en-US" sz="1400" dirty="0"/>
          </a:p>
        </p:txBody>
      </p:sp>
      <p:sp>
        <p:nvSpPr>
          <p:cNvPr id="8" name="Shape 5"/>
          <p:cNvSpPr/>
          <p:nvPr/>
        </p:nvSpPr>
        <p:spPr>
          <a:xfrm>
            <a:off x="1847459" y="3520490"/>
            <a:ext cx="7488194" cy="796237"/>
          </a:xfrm>
          <a:prstGeom prst="roundRect">
            <a:avLst>
              <a:gd name="adj" fmla="val 9000"/>
            </a:avLst>
          </a:prstGeom>
          <a:solidFill>
            <a:srgbClr val="0F3D5F"/>
          </a:solidFill>
          <a:ln/>
          <a:effectLst>
            <a:outerShdw blurRad="101600" dist="38100" dir="5400000" algn="bl" rotWithShape="0">
              <a:srgbClr val="0A2A43">
                <a:alpha val="10000"/>
              </a:srgbClr>
            </a:outerShdw>
          </a:effectLst>
        </p:spPr>
        <p:txBody>
          <a:bodyPr/>
          <a:lstStyle/>
          <a:p>
            <a:endParaRPr lang="en-US" dirty="0"/>
          </a:p>
        </p:txBody>
      </p:sp>
      <p:sp>
        <p:nvSpPr>
          <p:cNvPr id="9" name="Shape 6"/>
          <p:cNvSpPr/>
          <p:nvPr/>
        </p:nvSpPr>
        <p:spPr>
          <a:xfrm>
            <a:off x="2024273" y="3589020"/>
            <a:ext cx="594360" cy="594360"/>
          </a:xfrm>
          <a:prstGeom prst="ellipse">
            <a:avLst/>
          </a:prstGeom>
          <a:solidFill>
            <a:srgbClr val="3FE0C5"/>
          </a:solidFill>
          <a:ln/>
        </p:spPr>
        <p:txBody>
          <a:bodyPr/>
          <a:lstStyle/>
          <a:p>
            <a:endParaRPr lang="en-US" dirty="0"/>
          </a:p>
        </p:txBody>
      </p:sp>
      <p:pic>
        <p:nvPicPr>
          <p:cNvPr id="10" name="Image 1" descr="preencoded.png"/>
          <p:cNvPicPr>
            <a:picLocks noChangeAspect="1"/>
          </p:cNvPicPr>
          <p:nvPr/>
        </p:nvPicPr>
        <p:blipFill>
          <a:blip r:embed="rId4"/>
          <a:stretch>
            <a:fillRect/>
          </a:stretch>
        </p:blipFill>
        <p:spPr>
          <a:xfrm>
            <a:off x="2178807" y="3731381"/>
            <a:ext cx="285293" cy="285293"/>
          </a:xfrm>
          <a:prstGeom prst="rect">
            <a:avLst/>
          </a:prstGeom>
        </p:spPr>
      </p:pic>
      <p:sp>
        <p:nvSpPr>
          <p:cNvPr id="11" name="Text 7"/>
          <p:cNvSpPr/>
          <p:nvPr/>
        </p:nvSpPr>
        <p:spPr>
          <a:xfrm>
            <a:off x="2693773" y="3644998"/>
            <a:ext cx="6796413" cy="594360"/>
          </a:xfrm>
          <a:prstGeom prst="rect">
            <a:avLst/>
          </a:prstGeom>
          <a:noFill/>
          <a:ln/>
        </p:spPr>
        <p:txBody>
          <a:bodyPr wrap="square" lIns="0" tIns="0" rIns="0" bIns="0" rtlCol="0" anchor="ctr"/>
          <a:lstStyle/>
          <a:p>
            <a:r>
              <a:rPr lang="en-US" sz="1450" b="1" dirty="0">
                <a:solidFill>
                  <a:srgbClr val="FFFFFF"/>
                </a:solidFill>
                <a:latin typeface="Courier New" pitchFamily="34" charset="0"/>
                <a:ea typeface="Courier New" pitchFamily="34" charset="-122"/>
                <a:cs typeface="Courier New" pitchFamily="34" charset="-120"/>
              </a:rPr>
              <a:t>https://github.com/QynhAnhh/Chat-GUI-via-TCP---Group-12.git</a:t>
            </a:r>
            <a:endParaRPr lang="en-US" sz="1450" dirty="0"/>
          </a:p>
        </p:txBody>
      </p:sp>
      <p:sp>
        <p:nvSpPr>
          <p:cNvPr id="12" name="Text 8"/>
          <p:cNvSpPr/>
          <p:nvPr/>
        </p:nvSpPr>
        <p:spPr>
          <a:xfrm>
            <a:off x="2926080" y="4568022"/>
            <a:ext cx="6035040" cy="320040"/>
          </a:xfrm>
          <a:prstGeom prst="rect">
            <a:avLst/>
          </a:prstGeom>
          <a:noFill/>
          <a:ln/>
        </p:spPr>
        <p:txBody>
          <a:bodyPr wrap="square" lIns="0" tIns="0" rIns="0" bIns="0" rtlCol="0" anchor="ctr"/>
          <a:lstStyle/>
          <a:p>
            <a:pPr marL="0" indent="0" algn="ctr">
              <a:buNone/>
            </a:pPr>
            <a:r>
              <a:rPr lang="en-US" sz="1100" dirty="0">
                <a:solidFill>
                  <a:srgbClr val="8FAAB9"/>
                </a:solidFill>
                <a:latin typeface="Calibri" pitchFamily="34" charset="0"/>
                <a:ea typeface="Calibri" pitchFamily="34" charset="-122"/>
                <a:cs typeface="Calibri" pitchFamily="34" charset="-120"/>
              </a:rPr>
              <a:t>Mã nguồn dự án</a:t>
            </a:r>
            <a:endParaRPr lang="en-US" sz="1100" dirty="0"/>
          </a:p>
        </p:txBody>
      </p:sp>
      <p:sp>
        <p:nvSpPr>
          <p:cNvPr id="13" name="Text 9"/>
          <p:cNvSpPr/>
          <p:nvPr/>
        </p:nvSpPr>
        <p:spPr>
          <a:xfrm>
            <a:off x="594360" y="5782476"/>
            <a:ext cx="10908792" cy="457200"/>
          </a:xfrm>
          <a:prstGeom prst="rect">
            <a:avLst/>
          </a:prstGeom>
          <a:noFill/>
          <a:ln/>
        </p:spPr>
        <p:txBody>
          <a:bodyPr wrap="square" lIns="0" tIns="0" rIns="0" bIns="0" rtlCol="0" anchor="ctr"/>
          <a:lstStyle/>
          <a:p>
            <a:pPr marL="0" indent="0" algn="ctr">
              <a:buNone/>
            </a:pPr>
            <a:r>
              <a:rPr lang="en-US" sz="1600" b="1" kern="0" spc="300" dirty="0">
                <a:solidFill>
                  <a:srgbClr val="3FE0C5"/>
                </a:solidFill>
                <a:latin typeface="Arial" pitchFamily="34" charset="0"/>
                <a:ea typeface="Arial" pitchFamily="34" charset="-122"/>
                <a:cs typeface="Arial" pitchFamily="34" charset="-120"/>
              </a:rPr>
              <a:t>Q &amp; A</a:t>
            </a:r>
            <a:endParaRPr lang="en-US" sz="1600" dirty="0"/>
          </a:p>
        </p:txBody>
      </p:sp>
      <p:sp>
        <p:nvSpPr>
          <p:cNvPr id="14" name="Text 10"/>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9FB8C8"/>
                </a:solidFill>
                <a:latin typeface="Calibri" pitchFamily="34" charset="0"/>
                <a:ea typeface="Calibri" pitchFamily="34" charset="-122"/>
                <a:cs typeface="Calibri" pitchFamily="34" charset="-120"/>
              </a:rPr>
              <a:t>CHAT TCP  |  NHÓM 12</a:t>
            </a:r>
            <a:endParaRPr lang="en-US" sz="900" dirty="0"/>
          </a:p>
        </p:txBody>
      </p:sp>
      <p:sp>
        <p:nvSpPr>
          <p:cNvPr id="15" name="Text 1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9FB8C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2213</Words>
  <Application>Microsoft Office PowerPoint</Application>
  <PresentationFormat>Widescreen</PresentationFormat>
  <Paragraphs>309</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 trinh ung dung Chat (GUI) via TCP</dc:title>
  <dc:subject>PptxGenJS Presentation</dc:subject>
  <dc:creator>Nhom 12</dc:creator>
  <cp:lastModifiedBy>Lê Hữu Tiến</cp:lastModifiedBy>
  <cp:revision>2</cp:revision>
  <dcterms:created xsi:type="dcterms:W3CDTF">2026-07-04T05:48:16Z</dcterms:created>
  <dcterms:modified xsi:type="dcterms:W3CDTF">2026-07-04T12:39:30Z</dcterms:modified>
</cp:coreProperties>
</file>